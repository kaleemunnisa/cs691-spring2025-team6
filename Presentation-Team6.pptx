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4962592" y="1581418"/>
            <a:ext cx="6096001" cy="2881312"/>
          </a:xfrm>
          <a:prstGeom prst="rect">
            <a:avLst/>
          </a:prstGeom>
        </p:spPr>
        <p:txBody>
          <a:bodyPr/>
          <a:lstStyle/>
          <a:p>
            <a:pPr algn="r">
              <a:defRPr sz="8000"/>
            </a:pPr>
            <a:r>
              <a:t>Travel Guide</a:t>
            </a:r>
            <a:br/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5529295" y="3179942"/>
            <a:ext cx="6096001" cy="1625555"/>
          </a:xfrm>
          <a:prstGeom prst="rect">
            <a:avLst/>
          </a:prstGeom>
        </p:spPr>
        <p:txBody>
          <a:bodyPr/>
          <a:lstStyle>
            <a:lvl1pPr algn="r"/>
          </a:lstStyle>
          <a:p>
            <a:pPr/>
            <a:r>
              <a:t>- Smart Travel Companion</a:t>
            </a:r>
          </a:p>
        </p:txBody>
      </p:sp>
      <p:pic>
        <p:nvPicPr>
          <p:cNvPr id="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rcRect l="35758" t="0" r="10908" b="0"/>
          <a:stretch>
            <a:fillRect/>
          </a:stretch>
        </p:blipFill>
        <p:spPr>
          <a:xfrm>
            <a:off x="-2" y="-1"/>
            <a:ext cx="4572001" cy="68579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0938" y="21600"/>
                </a:lnTo>
                <a:lnTo>
                  <a:pt x="20983" y="21466"/>
                </a:lnTo>
                <a:cubicBezTo>
                  <a:pt x="21009" y="21395"/>
                  <a:pt x="21056" y="21327"/>
                  <a:pt x="21073" y="21255"/>
                </a:cubicBezTo>
                <a:cubicBezTo>
                  <a:pt x="21114" y="21084"/>
                  <a:pt x="21142" y="20912"/>
                  <a:pt x="21174" y="20740"/>
                </a:cubicBezTo>
                <a:cubicBezTo>
                  <a:pt x="21208" y="20562"/>
                  <a:pt x="21244" y="20385"/>
                  <a:pt x="21274" y="20208"/>
                </a:cubicBezTo>
                <a:cubicBezTo>
                  <a:pt x="21289" y="20110"/>
                  <a:pt x="21291" y="20012"/>
                  <a:pt x="21306" y="19915"/>
                </a:cubicBezTo>
                <a:cubicBezTo>
                  <a:pt x="21318" y="19830"/>
                  <a:pt x="21341" y="19745"/>
                  <a:pt x="21356" y="19660"/>
                </a:cubicBezTo>
                <a:cubicBezTo>
                  <a:pt x="21369" y="19586"/>
                  <a:pt x="21377" y="19513"/>
                  <a:pt x="21390" y="19439"/>
                </a:cubicBezTo>
                <a:cubicBezTo>
                  <a:pt x="21411" y="19321"/>
                  <a:pt x="21434" y="19203"/>
                  <a:pt x="21456" y="19085"/>
                </a:cubicBezTo>
                <a:cubicBezTo>
                  <a:pt x="21464" y="19036"/>
                  <a:pt x="21486" y="18984"/>
                  <a:pt x="21472" y="18938"/>
                </a:cubicBezTo>
                <a:cubicBezTo>
                  <a:pt x="21438" y="18821"/>
                  <a:pt x="21447" y="18707"/>
                  <a:pt x="21471" y="18591"/>
                </a:cubicBezTo>
                <a:cubicBezTo>
                  <a:pt x="21479" y="18552"/>
                  <a:pt x="21478" y="18508"/>
                  <a:pt x="21463" y="18470"/>
                </a:cubicBezTo>
                <a:cubicBezTo>
                  <a:pt x="21433" y="18391"/>
                  <a:pt x="21388" y="18315"/>
                  <a:pt x="21351" y="18238"/>
                </a:cubicBezTo>
                <a:cubicBezTo>
                  <a:pt x="21346" y="18229"/>
                  <a:pt x="21346" y="18219"/>
                  <a:pt x="21343" y="18210"/>
                </a:cubicBezTo>
                <a:cubicBezTo>
                  <a:pt x="21328" y="18159"/>
                  <a:pt x="21312" y="18109"/>
                  <a:pt x="21298" y="18058"/>
                </a:cubicBezTo>
                <a:cubicBezTo>
                  <a:pt x="21291" y="18030"/>
                  <a:pt x="21291" y="18003"/>
                  <a:pt x="21285" y="17975"/>
                </a:cubicBezTo>
                <a:cubicBezTo>
                  <a:pt x="21260" y="17868"/>
                  <a:pt x="21302" y="17750"/>
                  <a:pt x="21193" y="17658"/>
                </a:cubicBezTo>
                <a:cubicBezTo>
                  <a:pt x="21123" y="17597"/>
                  <a:pt x="21139" y="17539"/>
                  <a:pt x="21150" y="17475"/>
                </a:cubicBezTo>
                <a:cubicBezTo>
                  <a:pt x="21158" y="17426"/>
                  <a:pt x="21155" y="17377"/>
                  <a:pt x="21156" y="17328"/>
                </a:cubicBezTo>
                <a:cubicBezTo>
                  <a:pt x="21158" y="17241"/>
                  <a:pt x="21159" y="17155"/>
                  <a:pt x="21163" y="17069"/>
                </a:cubicBezTo>
                <a:cubicBezTo>
                  <a:pt x="21165" y="17041"/>
                  <a:pt x="21187" y="17013"/>
                  <a:pt x="21184" y="16986"/>
                </a:cubicBezTo>
                <a:cubicBezTo>
                  <a:pt x="21167" y="16861"/>
                  <a:pt x="21141" y="16736"/>
                  <a:pt x="21126" y="16611"/>
                </a:cubicBezTo>
                <a:cubicBezTo>
                  <a:pt x="21117" y="16540"/>
                  <a:pt x="21133" y="16468"/>
                  <a:pt x="21120" y="16398"/>
                </a:cubicBezTo>
                <a:cubicBezTo>
                  <a:pt x="21106" y="16317"/>
                  <a:pt x="21069" y="16238"/>
                  <a:pt x="21047" y="16158"/>
                </a:cubicBezTo>
                <a:cubicBezTo>
                  <a:pt x="21041" y="16135"/>
                  <a:pt x="21049" y="16111"/>
                  <a:pt x="21051" y="16088"/>
                </a:cubicBezTo>
                <a:cubicBezTo>
                  <a:pt x="21052" y="16061"/>
                  <a:pt x="21055" y="16035"/>
                  <a:pt x="21056" y="16009"/>
                </a:cubicBezTo>
                <a:cubicBezTo>
                  <a:pt x="21058" y="15928"/>
                  <a:pt x="21056" y="15848"/>
                  <a:pt x="21062" y="15768"/>
                </a:cubicBezTo>
                <a:cubicBezTo>
                  <a:pt x="21065" y="15718"/>
                  <a:pt x="21102" y="15667"/>
                  <a:pt x="21088" y="15621"/>
                </a:cubicBezTo>
                <a:cubicBezTo>
                  <a:pt x="21062" y="15528"/>
                  <a:pt x="21122" y="15434"/>
                  <a:pt x="21073" y="15341"/>
                </a:cubicBezTo>
                <a:cubicBezTo>
                  <a:pt x="21059" y="15312"/>
                  <a:pt x="21094" y="15274"/>
                  <a:pt x="21096" y="15239"/>
                </a:cubicBezTo>
                <a:cubicBezTo>
                  <a:pt x="21100" y="15152"/>
                  <a:pt x="21100" y="15065"/>
                  <a:pt x="21099" y="14978"/>
                </a:cubicBezTo>
                <a:cubicBezTo>
                  <a:pt x="21098" y="14899"/>
                  <a:pt x="21110" y="14819"/>
                  <a:pt x="21084" y="14744"/>
                </a:cubicBezTo>
                <a:cubicBezTo>
                  <a:pt x="21057" y="14665"/>
                  <a:pt x="21061" y="14594"/>
                  <a:pt x="21092" y="14518"/>
                </a:cubicBezTo>
                <a:cubicBezTo>
                  <a:pt x="21113" y="14465"/>
                  <a:pt x="21116" y="14410"/>
                  <a:pt x="21122" y="14356"/>
                </a:cubicBezTo>
                <a:cubicBezTo>
                  <a:pt x="21129" y="14298"/>
                  <a:pt x="21111" y="14234"/>
                  <a:pt x="21141" y="14181"/>
                </a:cubicBezTo>
                <a:cubicBezTo>
                  <a:pt x="21229" y="14024"/>
                  <a:pt x="21248" y="13863"/>
                  <a:pt x="21248" y="13699"/>
                </a:cubicBezTo>
                <a:cubicBezTo>
                  <a:pt x="21248" y="13669"/>
                  <a:pt x="21235" y="13638"/>
                  <a:pt x="21221" y="13609"/>
                </a:cubicBezTo>
                <a:cubicBezTo>
                  <a:pt x="21140" y="13441"/>
                  <a:pt x="21147" y="13272"/>
                  <a:pt x="21197" y="13101"/>
                </a:cubicBezTo>
                <a:cubicBezTo>
                  <a:pt x="21208" y="13066"/>
                  <a:pt x="21210" y="13027"/>
                  <a:pt x="21199" y="12991"/>
                </a:cubicBezTo>
                <a:cubicBezTo>
                  <a:pt x="21167" y="12892"/>
                  <a:pt x="21114" y="12795"/>
                  <a:pt x="21092" y="12695"/>
                </a:cubicBezTo>
                <a:cubicBezTo>
                  <a:pt x="21055" y="12529"/>
                  <a:pt x="21180" y="12386"/>
                  <a:pt x="21261" y="12238"/>
                </a:cubicBezTo>
                <a:cubicBezTo>
                  <a:pt x="21337" y="12096"/>
                  <a:pt x="21509" y="11977"/>
                  <a:pt x="21471" y="11810"/>
                </a:cubicBezTo>
                <a:cubicBezTo>
                  <a:pt x="21467" y="11793"/>
                  <a:pt x="21492" y="11774"/>
                  <a:pt x="21499" y="11755"/>
                </a:cubicBezTo>
                <a:cubicBezTo>
                  <a:pt x="21516" y="11704"/>
                  <a:pt x="21536" y="11653"/>
                  <a:pt x="21544" y="11601"/>
                </a:cubicBezTo>
                <a:cubicBezTo>
                  <a:pt x="21555" y="11538"/>
                  <a:pt x="21552" y="11474"/>
                  <a:pt x="21561" y="11411"/>
                </a:cubicBezTo>
                <a:cubicBezTo>
                  <a:pt x="21571" y="11330"/>
                  <a:pt x="21600" y="11250"/>
                  <a:pt x="21600" y="11170"/>
                </a:cubicBezTo>
                <a:cubicBezTo>
                  <a:pt x="21600" y="11105"/>
                  <a:pt x="21567" y="11042"/>
                  <a:pt x="21551" y="10978"/>
                </a:cubicBezTo>
                <a:cubicBezTo>
                  <a:pt x="21529" y="10887"/>
                  <a:pt x="21534" y="10787"/>
                  <a:pt x="21476" y="10708"/>
                </a:cubicBezTo>
                <a:cubicBezTo>
                  <a:pt x="21415" y="10622"/>
                  <a:pt x="21388" y="10541"/>
                  <a:pt x="21407" y="10452"/>
                </a:cubicBezTo>
                <a:cubicBezTo>
                  <a:pt x="21413" y="10423"/>
                  <a:pt x="21451" y="10386"/>
                  <a:pt x="21489" y="10372"/>
                </a:cubicBezTo>
                <a:cubicBezTo>
                  <a:pt x="21576" y="10343"/>
                  <a:pt x="21590" y="10303"/>
                  <a:pt x="21561" y="10249"/>
                </a:cubicBezTo>
                <a:cubicBezTo>
                  <a:pt x="21535" y="10201"/>
                  <a:pt x="21523" y="10142"/>
                  <a:pt x="21474" y="10110"/>
                </a:cubicBezTo>
                <a:cubicBezTo>
                  <a:pt x="21337" y="10018"/>
                  <a:pt x="21333" y="9901"/>
                  <a:pt x="21296" y="9788"/>
                </a:cubicBezTo>
                <a:cubicBezTo>
                  <a:pt x="21274" y="9718"/>
                  <a:pt x="21272" y="9653"/>
                  <a:pt x="21287" y="9584"/>
                </a:cubicBezTo>
                <a:cubicBezTo>
                  <a:pt x="21321" y="9433"/>
                  <a:pt x="21274" y="9285"/>
                  <a:pt x="21212" y="9140"/>
                </a:cubicBezTo>
                <a:cubicBezTo>
                  <a:pt x="21170" y="9044"/>
                  <a:pt x="21145" y="8945"/>
                  <a:pt x="21103" y="8850"/>
                </a:cubicBezTo>
                <a:cubicBezTo>
                  <a:pt x="21071" y="8779"/>
                  <a:pt x="21032" y="8708"/>
                  <a:pt x="20979" y="8642"/>
                </a:cubicBezTo>
                <a:cubicBezTo>
                  <a:pt x="20903" y="8548"/>
                  <a:pt x="20788" y="8464"/>
                  <a:pt x="20818" y="8344"/>
                </a:cubicBezTo>
                <a:cubicBezTo>
                  <a:pt x="20845" y="8238"/>
                  <a:pt x="20788" y="8141"/>
                  <a:pt x="20734" y="8044"/>
                </a:cubicBezTo>
                <a:cubicBezTo>
                  <a:pt x="20694" y="7972"/>
                  <a:pt x="20654" y="7901"/>
                  <a:pt x="20629" y="7828"/>
                </a:cubicBezTo>
                <a:cubicBezTo>
                  <a:pt x="20599" y="7740"/>
                  <a:pt x="20612" y="7642"/>
                  <a:pt x="20558" y="7564"/>
                </a:cubicBezTo>
                <a:cubicBezTo>
                  <a:pt x="20500" y="7482"/>
                  <a:pt x="20538" y="7414"/>
                  <a:pt x="20554" y="7341"/>
                </a:cubicBezTo>
                <a:cubicBezTo>
                  <a:pt x="20579" y="7225"/>
                  <a:pt x="20626" y="7109"/>
                  <a:pt x="20567" y="6992"/>
                </a:cubicBezTo>
                <a:cubicBezTo>
                  <a:pt x="20495" y="6850"/>
                  <a:pt x="20418" y="6710"/>
                  <a:pt x="20349" y="6568"/>
                </a:cubicBezTo>
                <a:cubicBezTo>
                  <a:pt x="20323" y="6512"/>
                  <a:pt x="20312" y="6453"/>
                  <a:pt x="20301" y="6395"/>
                </a:cubicBezTo>
                <a:cubicBezTo>
                  <a:pt x="20291" y="6340"/>
                  <a:pt x="20316" y="6275"/>
                  <a:pt x="20278" y="6232"/>
                </a:cubicBezTo>
                <a:cubicBezTo>
                  <a:pt x="20181" y="6124"/>
                  <a:pt x="20134" y="6014"/>
                  <a:pt x="20134" y="5889"/>
                </a:cubicBezTo>
                <a:cubicBezTo>
                  <a:pt x="20134" y="5842"/>
                  <a:pt x="20092" y="5796"/>
                  <a:pt x="20085" y="5749"/>
                </a:cubicBezTo>
                <a:cubicBezTo>
                  <a:pt x="20076" y="5684"/>
                  <a:pt x="20053" y="5610"/>
                  <a:pt x="20087" y="5554"/>
                </a:cubicBezTo>
                <a:cubicBezTo>
                  <a:pt x="20168" y="5421"/>
                  <a:pt x="20099" y="5313"/>
                  <a:pt x="20019" y="5198"/>
                </a:cubicBezTo>
                <a:cubicBezTo>
                  <a:pt x="19940" y="5083"/>
                  <a:pt x="19877" y="4964"/>
                  <a:pt x="19824" y="4842"/>
                </a:cubicBezTo>
                <a:cubicBezTo>
                  <a:pt x="19805" y="4797"/>
                  <a:pt x="19837" y="4743"/>
                  <a:pt x="19843" y="4692"/>
                </a:cubicBezTo>
                <a:cubicBezTo>
                  <a:pt x="19845" y="4674"/>
                  <a:pt x="19848" y="4654"/>
                  <a:pt x="19839" y="4638"/>
                </a:cubicBezTo>
                <a:cubicBezTo>
                  <a:pt x="19753" y="4481"/>
                  <a:pt x="19688" y="4322"/>
                  <a:pt x="19732" y="4152"/>
                </a:cubicBezTo>
                <a:cubicBezTo>
                  <a:pt x="19737" y="4137"/>
                  <a:pt x="19728" y="4119"/>
                  <a:pt x="19721" y="4104"/>
                </a:cubicBezTo>
                <a:cubicBezTo>
                  <a:pt x="19689" y="4028"/>
                  <a:pt x="19637" y="3954"/>
                  <a:pt x="19626" y="3876"/>
                </a:cubicBezTo>
                <a:cubicBezTo>
                  <a:pt x="19597" y="3685"/>
                  <a:pt x="19585" y="3493"/>
                  <a:pt x="19566" y="3301"/>
                </a:cubicBezTo>
                <a:cubicBezTo>
                  <a:pt x="19565" y="3289"/>
                  <a:pt x="19564" y="3277"/>
                  <a:pt x="19558" y="3266"/>
                </a:cubicBezTo>
                <a:cubicBezTo>
                  <a:pt x="19519" y="3195"/>
                  <a:pt x="19533" y="3134"/>
                  <a:pt x="19607" y="3074"/>
                </a:cubicBezTo>
                <a:cubicBezTo>
                  <a:pt x="19639" y="3047"/>
                  <a:pt x="19656" y="3010"/>
                  <a:pt x="19674" y="2978"/>
                </a:cubicBezTo>
                <a:cubicBezTo>
                  <a:pt x="19701" y="2929"/>
                  <a:pt x="19727" y="2879"/>
                  <a:pt x="19744" y="2829"/>
                </a:cubicBezTo>
                <a:cubicBezTo>
                  <a:pt x="19760" y="2779"/>
                  <a:pt x="19783" y="2726"/>
                  <a:pt x="19770" y="2678"/>
                </a:cubicBezTo>
                <a:cubicBezTo>
                  <a:pt x="19748" y="2591"/>
                  <a:pt x="19696" y="2509"/>
                  <a:pt x="19663" y="2424"/>
                </a:cubicBezTo>
                <a:cubicBezTo>
                  <a:pt x="19651" y="2394"/>
                  <a:pt x="19655" y="2362"/>
                  <a:pt x="19654" y="2331"/>
                </a:cubicBezTo>
                <a:cubicBezTo>
                  <a:pt x="19651" y="2261"/>
                  <a:pt x="19676" y="2190"/>
                  <a:pt x="19601" y="2126"/>
                </a:cubicBezTo>
                <a:cubicBezTo>
                  <a:pt x="19531" y="2067"/>
                  <a:pt x="19552" y="2008"/>
                  <a:pt x="19605" y="1946"/>
                </a:cubicBezTo>
                <a:cubicBezTo>
                  <a:pt x="19643" y="1902"/>
                  <a:pt x="19673" y="1851"/>
                  <a:pt x="19688" y="1801"/>
                </a:cubicBezTo>
                <a:cubicBezTo>
                  <a:pt x="19707" y="1733"/>
                  <a:pt x="19716" y="1665"/>
                  <a:pt x="19704" y="1591"/>
                </a:cubicBezTo>
                <a:cubicBezTo>
                  <a:pt x="19696" y="1539"/>
                  <a:pt x="19692" y="1496"/>
                  <a:pt x="19644" y="1455"/>
                </a:cubicBezTo>
                <a:cubicBezTo>
                  <a:pt x="19637" y="1448"/>
                  <a:pt x="19636" y="1437"/>
                  <a:pt x="19637" y="1428"/>
                </a:cubicBezTo>
                <a:cubicBezTo>
                  <a:pt x="19652" y="1309"/>
                  <a:pt x="19644" y="1193"/>
                  <a:pt x="19633" y="1074"/>
                </a:cubicBezTo>
                <a:cubicBezTo>
                  <a:pt x="19619" y="922"/>
                  <a:pt x="19660" y="761"/>
                  <a:pt x="19811" y="630"/>
                </a:cubicBezTo>
                <a:cubicBezTo>
                  <a:pt x="19834" y="611"/>
                  <a:pt x="19843" y="583"/>
                  <a:pt x="19849" y="558"/>
                </a:cubicBezTo>
                <a:cubicBezTo>
                  <a:pt x="19872" y="439"/>
                  <a:pt x="19888" y="319"/>
                  <a:pt x="19914" y="200"/>
                </a:cubicBezTo>
                <a:cubicBezTo>
                  <a:pt x="19929" y="135"/>
                  <a:pt x="19942" y="68"/>
                  <a:pt x="19982" y="9"/>
                </a:cubicBezTo>
                <a:lnTo>
                  <a:pt x="19988" y="0"/>
                </a:lnTo>
                <a:lnTo>
                  <a:pt x="0" y="0"/>
                </a:lnTo>
                <a:close/>
                <a:moveTo>
                  <a:pt x="17796" y="234"/>
                </a:moveTo>
                <a:cubicBezTo>
                  <a:pt x="17802" y="316"/>
                  <a:pt x="17824" y="397"/>
                  <a:pt x="17844" y="478"/>
                </a:cubicBezTo>
                <a:lnTo>
                  <a:pt x="17844" y="482"/>
                </a:lnTo>
                <a:lnTo>
                  <a:pt x="17863" y="559"/>
                </a:lnTo>
                <a:lnTo>
                  <a:pt x="17884" y="721"/>
                </a:lnTo>
                <a:lnTo>
                  <a:pt x="17844" y="482"/>
                </a:lnTo>
                <a:lnTo>
                  <a:pt x="17824" y="396"/>
                </a:lnTo>
                <a:cubicBezTo>
                  <a:pt x="17811" y="342"/>
                  <a:pt x="17800" y="288"/>
                  <a:pt x="17796" y="234"/>
                </a:cubicBezTo>
                <a:close/>
                <a:moveTo>
                  <a:pt x="17749" y="5348"/>
                </a:moveTo>
                <a:cubicBezTo>
                  <a:pt x="17749" y="5348"/>
                  <a:pt x="17750" y="5347"/>
                  <a:pt x="17751" y="5348"/>
                </a:cubicBezTo>
                <a:cubicBezTo>
                  <a:pt x="17797" y="5378"/>
                  <a:pt x="17831" y="5419"/>
                  <a:pt x="17858" y="5459"/>
                </a:cubicBezTo>
                <a:cubicBezTo>
                  <a:pt x="17831" y="5419"/>
                  <a:pt x="17796" y="5378"/>
                  <a:pt x="17749" y="5348"/>
                </a:cubicBezTo>
                <a:close/>
                <a:moveTo>
                  <a:pt x="20070" y="8646"/>
                </a:moveTo>
                <a:lnTo>
                  <a:pt x="20098" y="8726"/>
                </a:lnTo>
                <a:lnTo>
                  <a:pt x="20096" y="8750"/>
                </a:lnTo>
                <a:lnTo>
                  <a:pt x="20100" y="8764"/>
                </a:lnTo>
                <a:lnTo>
                  <a:pt x="20094" y="8772"/>
                </a:lnTo>
                <a:lnTo>
                  <a:pt x="20092" y="8798"/>
                </a:lnTo>
                <a:lnTo>
                  <a:pt x="20048" y="8856"/>
                </a:lnTo>
                <a:lnTo>
                  <a:pt x="20094" y="8772"/>
                </a:lnTo>
                <a:lnTo>
                  <a:pt x="20096" y="8750"/>
                </a:lnTo>
                <a:lnTo>
                  <a:pt x="20070" y="8646"/>
                </a:lnTo>
                <a:close/>
                <a:moveTo>
                  <a:pt x="19854" y="8972"/>
                </a:moveTo>
                <a:cubicBezTo>
                  <a:pt x="19827" y="9031"/>
                  <a:pt x="19798" y="9091"/>
                  <a:pt x="19774" y="9151"/>
                </a:cubicBezTo>
                <a:cubicBezTo>
                  <a:pt x="19797" y="9091"/>
                  <a:pt x="19827" y="9031"/>
                  <a:pt x="19854" y="8972"/>
                </a:cubicBezTo>
                <a:close/>
                <a:moveTo>
                  <a:pt x="19519" y="15209"/>
                </a:moveTo>
                <a:cubicBezTo>
                  <a:pt x="19566" y="15242"/>
                  <a:pt x="19601" y="15280"/>
                  <a:pt x="19626" y="15319"/>
                </a:cubicBezTo>
                <a:cubicBezTo>
                  <a:pt x="19601" y="15280"/>
                  <a:pt x="19566" y="15242"/>
                  <a:pt x="19519" y="15209"/>
                </a:cubicBezTo>
                <a:close/>
                <a:moveTo>
                  <a:pt x="19680" y="15612"/>
                </a:moveTo>
                <a:cubicBezTo>
                  <a:pt x="19702" y="15645"/>
                  <a:pt x="19731" y="15676"/>
                  <a:pt x="19762" y="15708"/>
                </a:cubicBezTo>
                <a:cubicBezTo>
                  <a:pt x="19731" y="15676"/>
                  <a:pt x="19702" y="15644"/>
                  <a:pt x="19680" y="15612"/>
                </a:cubicBezTo>
                <a:close/>
                <a:moveTo>
                  <a:pt x="19888" y="15879"/>
                </a:moveTo>
                <a:cubicBezTo>
                  <a:pt x="19893" y="15929"/>
                  <a:pt x="19921" y="15976"/>
                  <a:pt x="19950" y="16024"/>
                </a:cubicBezTo>
                <a:cubicBezTo>
                  <a:pt x="19921" y="15976"/>
                  <a:pt x="19893" y="15929"/>
                  <a:pt x="19888" y="15879"/>
                </a:cubicBezTo>
                <a:close/>
                <a:moveTo>
                  <a:pt x="19781" y="16719"/>
                </a:moveTo>
                <a:cubicBezTo>
                  <a:pt x="19776" y="16728"/>
                  <a:pt x="19770" y="16738"/>
                  <a:pt x="19766" y="16748"/>
                </a:cubicBezTo>
                <a:cubicBezTo>
                  <a:pt x="19770" y="16738"/>
                  <a:pt x="19776" y="16728"/>
                  <a:pt x="19781" y="16719"/>
                </a:cubicBezTo>
                <a:close/>
                <a:moveTo>
                  <a:pt x="20199" y="20359"/>
                </a:moveTo>
                <a:lnTo>
                  <a:pt x="20147" y="20498"/>
                </a:lnTo>
                <a:lnTo>
                  <a:pt x="20134" y="20514"/>
                </a:lnTo>
                <a:lnTo>
                  <a:pt x="20122" y="20541"/>
                </a:lnTo>
                <a:lnTo>
                  <a:pt x="20044" y="20618"/>
                </a:lnTo>
                <a:lnTo>
                  <a:pt x="20134" y="20514"/>
                </a:lnTo>
                <a:lnTo>
                  <a:pt x="20199" y="20359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97" name="TextBox 4"/>
          <p:cNvSpPr txBox="1"/>
          <p:nvPr/>
        </p:nvSpPr>
        <p:spPr>
          <a:xfrm>
            <a:off x="8542949" y="5121235"/>
            <a:ext cx="3258848" cy="1469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lnSpc>
                <a:spcPct val="115000"/>
              </a:lnSpc>
              <a:defRPr b="1" sz="1200"/>
            </a:pPr>
            <a:r>
              <a:t>Team members:</a:t>
            </a:r>
          </a:p>
          <a:p>
            <a:pPr algn="r">
              <a:lnSpc>
                <a:spcPct val="115000"/>
              </a:lnSpc>
              <a:defRPr sz="1200"/>
            </a:pPr>
            <a:r>
              <a:t>Satya Nandan Thota – st83254n</a:t>
            </a:r>
            <a:br/>
            <a:r>
              <a:t>Sri Ramgopal Tandra - st57907n</a:t>
            </a:r>
          </a:p>
          <a:p>
            <a:pPr algn="r">
              <a:lnSpc>
                <a:spcPct val="115000"/>
              </a:lnSpc>
              <a:defRPr sz="1200"/>
            </a:pPr>
            <a:r>
              <a:t>Vijay Kumar Chelluboyana – vc86728n</a:t>
            </a:r>
          </a:p>
          <a:p>
            <a:pPr algn="r">
              <a:lnSpc>
                <a:spcPct val="115000"/>
              </a:lnSpc>
              <a:defRPr sz="1200"/>
            </a:pPr>
            <a:r>
              <a:t>Bharath babu – Bb97934n</a:t>
            </a:r>
          </a:p>
          <a:p>
            <a:pPr>
              <a:defRPr sz="1200"/>
            </a:pPr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7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Freeform: Shape 9"/>
          <p:cNvSpPr/>
          <p:nvPr/>
        </p:nvSpPr>
        <p:spPr>
          <a:xfrm>
            <a:off x="0" y="-1"/>
            <a:ext cx="12192000" cy="2347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9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5962"/>
                </a:lnTo>
                <a:lnTo>
                  <a:pt x="21202" y="16400"/>
                </a:lnTo>
                <a:cubicBezTo>
                  <a:pt x="20533" y="17093"/>
                  <a:pt x="19860" y="17686"/>
                  <a:pt x="19185" y="18232"/>
                </a:cubicBezTo>
                <a:lnTo>
                  <a:pt x="19034" y="18349"/>
                </a:lnTo>
                <a:cubicBezTo>
                  <a:pt x="19085" y="18355"/>
                  <a:pt x="19136" y="18330"/>
                  <a:pt x="19186" y="18272"/>
                </a:cubicBezTo>
                <a:cubicBezTo>
                  <a:pt x="19196" y="18278"/>
                  <a:pt x="19207" y="18280"/>
                  <a:pt x="19217" y="18278"/>
                </a:cubicBezTo>
                <a:cubicBezTo>
                  <a:pt x="19648" y="18099"/>
                  <a:pt x="20078" y="17886"/>
                  <a:pt x="20507" y="17663"/>
                </a:cubicBezTo>
                <a:lnTo>
                  <a:pt x="21600" y="17017"/>
                </a:lnTo>
                <a:lnTo>
                  <a:pt x="21600" y="17533"/>
                </a:lnTo>
                <a:lnTo>
                  <a:pt x="21323" y="17714"/>
                </a:lnTo>
                <a:cubicBezTo>
                  <a:pt x="21052" y="17877"/>
                  <a:pt x="20781" y="18027"/>
                  <a:pt x="20510" y="18167"/>
                </a:cubicBezTo>
                <a:cubicBezTo>
                  <a:pt x="19950" y="18460"/>
                  <a:pt x="19389" y="18728"/>
                  <a:pt x="18828" y="18950"/>
                </a:cubicBezTo>
                <a:cubicBezTo>
                  <a:pt x="18342" y="19142"/>
                  <a:pt x="17855" y="19308"/>
                  <a:pt x="17370" y="19520"/>
                </a:cubicBezTo>
                <a:cubicBezTo>
                  <a:pt x="17038" y="19664"/>
                  <a:pt x="16708" y="19871"/>
                  <a:pt x="16377" y="20040"/>
                </a:cubicBezTo>
                <a:cubicBezTo>
                  <a:pt x="16074" y="20191"/>
                  <a:pt x="15772" y="20334"/>
                  <a:pt x="15469" y="20454"/>
                </a:cubicBezTo>
                <a:cubicBezTo>
                  <a:pt x="15076" y="20610"/>
                  <a:pt x="14683" y="20753"/>
                  <a:pt x="14290" y="20883"/>
                </a:cubicBezTo>
                <a:cubicBezTo>
                  <a:pt x="14049" y="20963"/>
                  <a:pt x="13808" y="21012"/>
                  <a:pt x="13567" y="21074"/>
                </a:cubicBezTo>
                <a:cubicBezTo>
                  <a:pt x="12902" y="21250"/>
                  <a:pt x="12236" y="21273"/>
                  <a:pt x="11571" y="21365"/>
                </a:cubicBezTo>
                <a:cubicBezTo>
                  <a:pt x="11362" y="21394"/>
                  <a:pt x="11154" y="21496"/>
                  <a:pt x="10946" y="21563"/>
                </a:cubicBezTo>
                <a:cubicBezTo>
                  <a:pt x="10827" y="21600"/>
                  <a:pt x="10708" y="21563"/>
                  <a:pt x="10590" y="21548"/>
                </a:cubicBezTo>
                <a:cubicBezTo>
                  <a:pt x="10230" y="21501"/>
                  <a:pt x="9870" y="21464"/>
                  <a:pt x="9510" y="21412"/>
                </a:cubicBezTo>
                <a:cubicBezTo>
                  <a:pt x="8930" y="21325"/>
                  <a:pt x="8352" y="21201"/>
                  <a:pt x="7773" y="21038"/>
                </a:cubicBezTo>
                <a:cubicBezTo>
                  <a:pt x="7651" y="21003"/>
                  <a:pt x="7528" y="20998"/>
                  <a:pt x="7406" y="20961"/>
                </a:cubicBezTo>
                <a:cubicBezTo>
                  <a:pt x="7206" y="20899"/>
                  <a:pt x="7007" y="20822"/>
                  <a:pt x="6807" y="20748"/>
                </a:cubicBezTo>
                <a:cubicBezTo>
                  <a:pt x="6741" y="20725"/>
                  <a:pt x="6675" y="20726"/>
                  <a:pt x="6609" y="20694"/>
                </a:cubicBezTo>
                <a:cubicBezTo>
                  <a:pt x="6429" y="20611"/>
                  <a:pt x="6249" y="20577"/>
                  <a:pt x="6069" y="20512"/>
                </a:cubicBezTo>
                <a:cubicBezTo>
                  <a:pt x="5862" y="20431"/>
                  <a:pt x="5656" y="20328"/>
                  <a:pt x="5450" y="20240"/>
                </a:cubicBezTo>
                <a:cubicBezTo>
                  <a:pt x="5299" y="20177"/>
                  <a:pt x="5147" y="20132"/>
                  <a:pt x="4995" y="20062"/>
                </a:cubicBezTo>
                <a:cubicBezTo>
                  <a:pt x="4822" y="19980"/>
                  <a:pt x="4648" y="19877"/>
                  <a:pt x="4474" y="19791"/>
                </a:cubicBezTo>
                <a:cubicBezTo>
                  <a:pt x="4348" y="19726"/>
                  <a:pt x="4222" y="19681"/>
                  <a:pt x="4096" y="19613"/>
                </a:cubicBezTo>
                <a:cubicBezTo>
                  <a:pt x="3944" y="19532"/>
                  <a:pt x="3792" y="19435"/>
                  <a:pt x="3639" y="19348"/>
                </a:cubicBezTo>
                <a:cubicBezTo>
                  <a:pt x="3527" y="19284"/>
                  <a:pt x="3416" y="19231"/>
                  <a:pt x="3305" y="19164"/>
                </a:cubicBezTo>
                <a:cubicBezTo>
                  <a:pt x="3165" y="19080"/>
                  <a:pt x="3026" y="18988"/>
                  <a:pt x="2886" y="18900"/>
                </a:cubicBezTo>
                <a:cubicBezTo>
                  <a:pt x="2786" y="18837"/>
                  <a:pt x="2685" y="18783"/>
                  <a:pt x="2585" y="18714"/>
                </a:cubicBezTo>
                <a:cubicBezTo>
                  <a:pt x="2456" y="18629"/>
                  <a:pt x="2328" y="18539"/>
                  <a:pt x="2199" y="18450"/>
                </a:cubicBezTo>
                <a:lnTo>
                  <a:pt x="1856" y="18208"/>
                </a:lnTo>
                <a:cubicBezTo>
                  <a:pt x="1718" y="18111"/>
                  <a:pt x="1581" y="18021"/>
                  <a:pt x="1444" y="17917"/>
                </a:cubicBezTo>
                <a:cubicBezTo>
                  <a:pt x="1312" y="17816"/>
                  <a:pt x="1181" y="17702"/>
                  <a:pt x="1050" y="17592"/>
                </a:cubicBezTo>
                <a:cubicBezTo>
                  <a:pt x="903" y="17468"/>
                  <a:pt x="756" y="17340"/>
                  <a:pt x="609" y="17214"/>
                </a:cubicBezTo>
                <a:cubicBezTo>
                  <a:pt x="427" y="17059"/>
                  <a:pt x="245" y="16911"/>
                  <a:pt x="63" y="16746"/>
                </a:cubicBezTo>
                <a:lnTo>
                  <a:pt x="0" y="16683"/>
                </a:lnTo>
                <a:lnTo>
                  <a:pt x="0" y="16165"/>
                </a:lnTo>
                <a:lnTo>
                  <a:pt x="486" y="16627"/>
                </a:lnTo>
                <a:cubicBezTo>
                  <a:pt x="618" y="16744"/>
                  <a:pt x="750" y="16848"/>
                  <a:pt x="883" y="16971"/>
                </a:cubicBezTo>
                <a:cubicBezTo>
                  <a:pt x="1015" y="17094"/>
                  <a:pt x="1148" y="17170"/>
                  <a:pt x="1281" y="17269"/>
                </a:cubicBezTo>
                <a:cubicBezTo>
                  <a:pt x="1413" y="17369"/>
                  <a:pt x="1549" y="17479"/>
                  <a:pt x="1683" y="17580"/>
                </a:cubicBezTo>
                <a:cubicBezTo>
                  <a:pt x="1828" y="17690"/>
                  <a:pt x="1973" y="17795"/>
                  <a:pt x="2118" y="17903"/>
                </a:cubicBezTo>
                <a:cubicBezTo>
                  <a:pt x="2205" y="17967"/>
                  <a:pt x="2292" y="18038"/>
                  <a:pt x="2379" y="18095"/>
                </a:cubicBezTo>
                <a:cubicBezTo>
                  <a:pt x="2482" y="18161"/>
                  <a:pt x="2586" y="18212"/>
                  <a:pt x="2689" y="18275"/>
                </a:cubicBezTo>
                <a:cubicBezTo>
                  <a:pt x="2798" y="18342"/>
                  <a:pt x="2906" y="18416"/>
                  <a:pt x="3014" y="18483"/>
                </a:cubicBezTo>
                <a:cubicBezTo>
                  <a:pt x="3123" y="18550"/>
                  <a:pt x="3225" y="18608"/>
                  <a:pt x="3329" y="18672"/>
                </a:cubicBezTo>
                <a:cubicBezTo>
                  <a:pt x="3442" y="18738"/>
                  <a:pt x="3554" y="18809"/>
                  <a:pt x="3665" y="18872"/>
                </a:cubicBezTo>
                <a:cubicBezTo>
                  <a:pt x="3750" y="18920"/>
                  <a:pt x="3834" y="18958"/>
                  <a:pt x="3919" y="19006"/>
                </a:cubicBezTo>
                <a:cubicBezTo>
                  <a:pt x="4040" y="19074"/>
                  <a:pt x="4161" y="19168"/>
                  <a:pt x="4282" y="19209"/>
                </a:cubicBezTo>
                <a:cubicBezTo>
                  <a:pt x="4380" y="19243"/>
                  <a:pt x="4477" y="19300"/>
                  <a:pt x="4575" y="19354"/>
                </a:cubicBezTo>
                <a:cubicBezTo>
                  <a:pt x="4704" y="19427"/>
                  <a:pt x="4835" y="19486"/>
                  <a:pt x="4965" y="19547"/>
                </a:cubicBezTo>
                <a:cubicBezTo>
                  <a:pt x="5072" y="19596"/>
                  <a:pt x="5181" y="19638"/>
                  <a:pt x="5288" y="19688"/>
                </a:cubicBezTo>
                <a:cubicBezTo>
                  <a:pt x="5440" y="19758"/>
                  <a:pt x="5592" y="19791"/>
                  <a:pt x="5743" y="19894"/>
                </a:cubicBezTo>
                <a:cubicBezTo>
                  <a:pt x="5859" y="19972"/>
                  <a:pt x="5978" y="19946"/>
                  <a:pt x="6094" y="20011"/>
                </a:cubicBezTo>
                <a:cubicBezTo>
                  <a:pt x="6223" y="20082"/>
                  <a:pt x="6353" y="20097"/>
                  <a:pt x="6482" y="20173"/>
                </a:cubicBezTo>
                <a:cubicBezTo>
                  <a:pt x="6611" y="20249"/>
                  <a:pt x="6745" y="20240"/>
                  <a:pt x="6876" y="20283"/>
                </a:cubicBezTo>
                <a:cubicBezTo>
                  <a:pt x="7034" y="20335"/>
                  <a:pt x="7191" y="20440"/>
                  <a:pt x="7350" y="20454"/>
                </a:cubicBezTo>
                <a:cubicBezTo>
                  <a:pt x="7539" y="20469"/>
                  <a:pt x="7728" y="20559"/>
                  <a:pt x="7916" y="20571"/>
                </a:cubicBezTo>
                <a:cubicBezTo>
                  <a:pt x="7993" y="20578"/>
                  <a:pt x="8068" y="20654"/>
                  <a:pt x="8159" y="20593"/>
                </a:cubicBezTo>
                <a:cubicBezTo>
                  <a:pt x="8104" y="20579"/>
                  <a:pt x="8062" y="20572"/>
                  <a:pt x="8021" y="20558"/>
                </a:cubicBezTo>
                <a:cubicBezTo>
                  <a:pt x="7814" y="20488"/>
                  <a:pt x="7606" y="20414"/>
                  <a:pt x="7398" y="20343"/>
                </a:cubicBezTo>
                <a:cubicBezTo>
                  <a:pt x="7287" y="20304"/>
                  <a:pt x="7176" y="20272"/>
                  <a:pt x="7066" y="20226"/>
                </a:cubicBezTo>
                <a:cubicBezTo>
                  <a:pt x="6888" y="20155"/>
                  <a:pt x="6709" y="20077"/>
                  <a:pt x="6531" y="20004"/>
                </a:cubicBezTo>
                <a:cubicBezTo>
                  <a:pt x="6431" y="19963"/>
                  <a:pt x="6331" y="19930"/>
                  <a:pt x="6231" y="19887"/>
                </a:cubicBezTo>
                <a:cubicBezTo>
                  <a:pt x="6078" y="19816"/>
                  <a:pt x="5926" y="19738"/>
                  <a:pt x="5773" y="19668"/>
                </a:cubicBezTo>
                <a:cubicBezTo>
                  <a:pt x="5680" y="19624"/>
                  <a:pt x="5587" y="19593"/>
                  <a:pt x="5495" y="19551"/>
                </a:cubicBezTo>
                <a:cubicBezTo>
                  <a:pt x="5322" y="19464"/>
                  <a:pt x="5150" y="19367"/>
                  <a:pt x="4977" y="19281"/>
                </a:cubicBezTo>
                <a:cubicBezTo>
                  <a:pt x="4853" y="19218"/>
                  <a:pt x="4728" y="19175"/>
                  <a:pt x="4604" y="19107"/>
                </a:cubicBezTo>
                <a:cubicBezTo>
                  <a:pt x="4449" y="19023"/>
                  <a:pt x="4295" y="18920"/>
                  <a:pt x="4141" y="18832"/>
                </a:cubicBezTo>
                <a:cubicBezTo>
                  <a:pt x="3996" y="18750"/>
                  <a:pt x="3850" y="18688"/>
                  <a:pt x="3705" y="18598"/>
                </a:cubicBezTo>
                <a:cubicBezTo>
                  <a:pt x="3506" y="18481"/>
                  <a:pt x="3309" y="18339"/>
                  <a:pt x="3111" y="18214"/>
                </a:cubicBezTo>
                <a:cubicBezTo>
                  <a:pt x="2925" y="18097"/>
                  <a:pt x="2739" y="17997"/>
                  <a:pt x="2553" y="17869"/>
                </a:cubicBezTo>
                <a:cubicBezTo>
                  <a:pt x="2303" y="17695"/>
                  <a:pt x="2053" y="17500"/>
                  <a:pt x="1803" y="17313"/>
                </a:cubicBezTo>
                <a:cubicBezTo>
                  <a:pt x="1553" y="17125"/>
                  <a:pt x="1303" y="16951"/>
                  <a:pt x="1053" y="16747"/>
                </a:cubicBezTo>
                <a:cubicBezTo>
                  <a:pt x="820" y="16558"/>
                  <a:pt x="587" y="16347"/>
                  <a:pt x="356" y="16134"/>
                </a:cubicBezTo>
                <a:lnTo>
                  <a:pt x="0" y="158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01" name="Title 1"/>
          <p:cNvSpPr txBox="1"/>
          <p:nvPr>
            <p:ph type="title"/>
          </p:nvPr>
        </p:nvSpPr>
        <p:spPr>
          <a:xfrm>
            <a:off x="551871" y="445005"/>
            <a:ext cx="11233729" cy="1226779"/>
          </a:xfrm>
          <a:prstGeom prst="rect">
            <a:avLst/>
          </a:prstGeom>
        </p:spPr>
        <p:txBody>
          <a:bodyPr/>
          <a:lstStyle>
            <a:lvl1pPr algn="ctr">
              <a:defRPr b="1" sz="4200">
                <a:solidFill>
                  <a:srgbClr val="FFFFFF"/>
                </a:solidFill>
              </a:defRPr>
            </a:lvl1pPr>
          </a:lstStyle>
          <a:p>
            <a:pPr/>
            <a:r>
              <a:t>Introduction &amp; Problem Statement</a:t>
            </a:r>
          </a:p>
        </p:txBody>
      </p:sp>
      <p:sp>
        <p:nvSpPr>
          <p:cNvPr id="102" name="Content Placeholder 2"/>
          <p:cNvSpPr txBox="1"/>
          <p:nvPr>
            <p:ph type="body" idx="1"/>
          </p:nvPr>
        </p:nvSpPr>
        <p:spPr>
          <a:xfrm>
            <a:off x="838200" y="2586789"/>
            <a:ext cx="10515600" cy="3590174"/>
          </a:xfrm>
          <a:prstGeom prst="rect">
            <a:avLst/>
          </a:prstGeom>
        </p:spPr>
        <p:txBody>
          <a:bodyPr/>
          <a:lstStyle/>
          <a:p>
            <a:pPr>
              <a:defRPr b="1" sz="2200"/>
            </a:pPr>
            <a:r>
              <a:t>Problem:</a:t>
            </a:r>
            <a:r>
              <a:rPr b="0"/>
              <a:t> Travelers struggle with finding personalized recommendations; local businesses lack visibility.</a:t>
            </a:r>
            <a:endParaRPr b="0"/>
          </a:p>
          <a:p>
            <a:pPr>
              <a:defRPr b="1" sz="2200"/>
            </a:pPr>
            <a:r>
              <a:t>Objective:</a:t>
            </a:r>
            <a:r>
              <a:rPr b="0"/>
              <a:t> Provide real-time, location-based recommendations for tourists and integrate local businesses.</a:t>
            </a:r>
            <a:endParaRPr b="0"/>
          </a:p>
          <a:p>
            <a:pPr>
              <a:defRPr b="1" sz="2200"/>
            </a:pPr>
            <a:r>
              <a:t>Importance:</a:t>
            </a:r>
            <a:r>
              <a:rPr b="0"/>
              <a:t> Enhances user travel experience and supports local tourism.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Rectangle 21"/>
          <p:cNvSpPr/>
          <p:nvPr/>
        </p:nvSpPr>
        <p:spPr>
          <a:xfrm flipH="1">
            <a:off x="1" y="-1"/>
            <a:ext cx="12191999" cy="1575957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Rectangle 23"/>
          <p:cNvSpPr/>
          <p:nvPr/>
        </p:nvSpPr>
        <p:spPr>
          <a:xfrm flipH="1" rot="10800000">
            <a:off x="8128857" y="0"/>
            <a:ext cx="4063144" cy="1576413"/>
          </a:xfrm>
          <a:prstGeom prst="rect">
            <a:avLst/>
          </a:prstGeom>
          <a:gradFill>
            <a:gsLst>
              <a:gs pos="19000">
                <a:srgbClr val="0A3041">
                  <a:alpha val="68000"/>
                </a:srgbClr>
              </a:gs>
              <a:gs pos="100000">
                <a:schemeClr val="accent1">
                  <a:alpha val="79000"/>
                </a:schemeClr>
              </a:gs>
            </a:gsLst>
            <a:lin ang="19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Rectangle 25"/>
          <p:cNvSpPr/>
          <p:nvPr/>
        </p:nvSpPr>
        <p:spPr>
          <a:xfrm rot="5400000">
            <a:off x="5307777" y="-5307778"/>
            <a:ext cx="1576447" cy="12192003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itle 1"/>
          <p:cNvSpPr txBox="1"/>
          <p:nvPr>
            <p:ph type="title"/>
          </p:nvPr>
        </p:nvSpPr>
        <p:spPr>
          <a:xfrm>
            <a:off x="1371596" y="348864"/>
            <a:ext cx="10044025" cy="877730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System Design &amp; Architecture</a:t>
            </a:r>
          </a:p>
        </p:txBody>
      </p:sp>
      <p:grpSp>
        <p:nvGrpSpPr>
          <p:cNvPr id="115" name="Content Placeholder 2"/>
          <p:cNvGrpSpPr/>
          <p:nvPr/>
        </p:nvGrpSpPr>
        <p:grpSpPr>
          <a:xfrm>
            <a:off x="1409969" y="2388549"/>
            <a:ext cx="9396001" cy="3840733"/>
            <a:chOff x="0" y="0"/>
            <a:chExt cx="9395999" cy="3840731"/>
          </a:xfrm>
        </p:grpSpPr>
        <p:sp>
          <p:nvSpPr>
            <p:cNvPr id="109" name="Square"/>
            <p:cNvSpPr/>
            <p:nvPr/>
          </p:nvSpPr>
          <p:spPr>
            <a:xfrm>
              <a:off x="0" y="0"/>
              <a:ext cx="1512001" cy="1512001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sp>
          <p:nvSpPr>
            <p:cNvPr id="110" name="Technologies Used:"/>
            <p:cNvSpPr txBox="1"/>
            <p:nvPr/>
          </p:nvSpPr>
          <p:spPr>
            <a:xfrm>
              <a:off x="0" y="1668557"/>
              <a:ext cx="4320000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600200">
                <a:spcBef>
                  <a:spcPts val="1500"/>
                </a:spcBef>
                <a:defRPr b="1" sz="3600"/>
              </a:lvl1pPr>
            </a:lstStyle>
            <a:p>
              <a:pPr/>
              <a:r>
                <a:t>Technologies Used:</a:t>
              </a:r>
            </a:p>
          </p:txBody>
        </p:sp>
        <p:sp>
          <p:nvSpPr>
            <p:cNvPr id="111" name="Frontend: React Native (Expo)…"/>
            <p:cNvSpPr txBox="1"/>
            <p:nvPr/>
          </p:nvSpPr>
          <p:spPr>
            <a:xfrm>
              <a:off x="0" y="2389375"/>
              <a:ext cx="4320000" cy="14513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defTabSz="755650">
                <a:spcBef>
                  <a:spcPts val="700"/>
                </a:spcBef>
                <a:defRPr b="1" sz="1700"/>
              </a:pPr>
              <a:r>
                <a:t>Frontend:</a:t>
              </a:r>
              <a:r>
                <a:rPr b="0"/>
                <a:t> React Native (Expo)</a:t>
              </a:r>
              <a:endParaRPr sz="2800"/>
            </a:p>
            <a:p>
              <a:pPr defTabSz="755650">
                <a:spcBef>
                  <a:spcPts val="700"/>
                </a:spcBef>
                <a:defRPr b="1" sz="1700"/>
              </a:pPr>
              <a:r>
                <a:t>Backend:</a:t>
              </a:r>
              <a:r>
                <a:rPr b="0"/>
                <a:t> Firebase (Firestore for database, Authentication for user management)</a:t>
              </a:r>
              <a:endParaRPr sz="2800"/>
            </a:p>
            <a:p>
              <a:pPr defTabSz="755650">
                <a:spcBef>
                  <a:spcPts val="700"/>
                </a:spcBef>
                <a:defRPr b="1" sz="1700"/>
              </a:pPr>
              <a:r>
                <a:t>APIs:</a:t>
              </a:r>
              <a:r>
                <a:rPr b="0"/>
                <a:t> Ticketmaster API for events, GeoAPIFY.</a:t>
              </a:r>
            </a:p>
          </p:txBody>
        </p:sp>
        <p:sp>
          <p:nvSpPr>
            <p:cNvPr id="112" name="Square"/>
            <p:cNvSpPr/>
            <p:nvPr/>
          </p:nvSpPr>
          <p:spPr>
            <a:xfrm>
              <a:off x="5075999" y="0"/>
              <a:ext cx="1512001" cy="1512001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sp>
          <p:nvSpPr>
            <p:cNvPr id="113" name="Architecture:"/>
            <p:cNvSpPr txBox="1"/>
            <p:nvPr/>
          </p:nvSpPr>
          <p:spPr>
            <a:xfrm>
              <a:off x="5075999" y="1668557"/>
              <a:ext cx="4320001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600200">
                <a:spcBef>
                  <a:spcPts val="1500"/>
                </a:spcBef>
                <a:defRPr b="1" sz="3600"/>
              </a:lvl1pPr>
            </a:lstStyle>
            <a:p>
              <a:pPr/>
              <a:r>
                <a:t>Architecture:</a:t>
              </a:r>
            </a:p>
          </p:txBody>
        </p:sp>
        <p:sp>
          <p:nvSpPr>
            <p:cNvPr id="114" name="-Mobile app interacts with Firebase backend.…"/>
            <p:cNvSpPr txBox="1"/>
            <p:nvPr/>
          </p:nvSpPr>
          <p:spPr>
            <a:xfrm>
              <a:off x="5075999" y="2389375"/>
              <a:ext cx="4320001" cy="8526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defTabSz="755650">
                <a:spcBef>
                  <a:spcPts val="700"/>
                </a:spcBef>
                <a:defRPr sz="1700"/>
              </a:pPr>
              <a:r>
                <a:t>-Mobile app interacts with Firebase backend.</a:t>
              </a:r>
              <a:endParaRPr sz="2800"/>
            </a:p>
            <a:p>
              <a:pPr defTabSz="755650">
                <a:spcBef>
                  <a:spcPts val="700"/>
                </a:spcBef>
                <a:defRPr sz="1700"/>
              </a:pPr>
              <a:r>
                <a:t>-Data is fetched in real-time from external APIs and displayed to users.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Screenshot 2025-05-08 at 6.43.07 PM.png" descr="Screenshot 2025-05-08 at 6.43.07 PM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3551856" y="862173"/>
            <a:ext cx="5996792" cy="5602267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Project FLow"/>
          <p:cNvSpPr txBox="1"/>
          <p:nvPr/>
        </p:nvSpPr>
        <p:spPr>
          <a:xfrm>
            <a:off x="957439" y="714689"/>
            <a:ext cx="143812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Project FLow</a:t>
            </a:r>
          </a:p>
        </p:txBody>
      </p:sp>
      <p:pic>
        <p:nvPicPr>
          <p:cNvPr id="119" name="react.png" descr="reac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84207" y="2825106"/>
            <a:ext cx="706858" cy="7068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Screenshot 2025-05-08 at 5.37.00 PM.png" descr="Screenshot 2025-05-08 at 5.37.00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673952" y="993528"/>
            <a:ext cx="1752601" cy="5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python.png" descr="python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30133" y="2825106"/>
            <a:ext cx="706858" cy="7068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Screenshot 2025-05-08 at 5.34.12 PM.png" descr="Screenshot 2025-05-08 at 5.34.12 P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052596" y="5029122"/>
            <a:ext cx="895388" cy="9100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633479" y="4523687"/>
            <a:ext cx="558165" cy="1925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Image" descr="Imag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364873" y="4608428"/>
            <a:ext cx="706080" cy="1925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Image" descr="Image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303130" y="1525514"/>
            <a:ext cx="370841" cy="3708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/>
            <a:r>
              <a:t>System Workflow &amp; Data Flow</a:t>
            </a:r>
          </a:p>
        </p:txBody>
      </p:sp>
      <p:grpSp>
        <p:nvGrpSpPr>
          <p:cNvPr id="137" name="Content Placeholder 2"/>
          <p:cNvGrpSpPr/>
          <p:nvPr/>
        </p:nvGrpSpPr>
        <p:grpSpPr>
          <a:xfrm>
            <a:off x="838592" y="2815783"/>
            <a:ext cx="10514815" cy="2316158"/>
            <a:chOff x="0" y="0"/>
            <a:chExt cx="10514813" cy="2316156"/>
          </a:xfrm>
        </p:grpSpPr>
        <p:sp>
          <p:nvSpPr>
            <p:cNvPr id="128" name="Square"/>
            <p:cNvSpPr/>
            <p:nvPr/>
          </p:nvSpPr>
          <p:spPr>
            <a:xfrm>
              <a:off x="1020094" y="0"/>
              <a:ext cx="1098563" cy="1098563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sp>
          <p:nvSpPr>
            <p:cNvPr id="129" name="User Interaction:"/>
            <p:cNvSpPr txBox="1"/>
            <p:nvPr/>
          </p:nvSpPr>
          <p:spPr>
            <a:xfrm>
              <a:off x="0" y="1200515"/>
              <a:ext cx="313875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711200">
                <a:spcBef>
                  <a:spcPts val="600"/>
                </a:spcBef>
                <a:defRPr b="1" sz="1600"/>
              </a:lvl1pPr>
            </a:lstStyle>
            <a:p>
              <a:pPr/>
              <a:r>
                <a:t>User Interaction:</a:t>
              </a:r>
            </a:p>
          </p:txBody>
        </p:sp>
        <p:sp>
          <p:nvSpPr>
            <p:cNvPr id="130" name="Users enter a location or browse recommendations."/>
            <p:cNvSpPr txBox="1"/>
            <p:nvPr/>
          </p:nvSpPr>
          <p:spPr>
            <a:xfrm>
              <a:off x="0" y="1718748"/>
              <a:ext cx="3138751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533400">
                <a:spcBef>
                  <a:spcPts val="500"/>
                </a:spcBef>
                <a:defRPr sz="1200"/>
              </a:lvl1pPr>
            </a:lstStyle>
            <a:p>
              <a:pPr/>
              <a:r>
                <a:t>Users enter a location or browse recommendations.</a:t>
              </a:r>
            </a:p>
          </p:txBody>
        </p:sp>
        <p:sp>
          <p:nvSpPr>
            <p:cNvPr id="131" name="Square"/>
            <p:cNvSpPr/>
            <p:nvPr/>
          </p:nvSpPr>
          <p:spPr>
            <a:xfrm>
              <a:off x="4708125" y="0"/>
              <a:ext cx="1098563" cy="1098563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sp>
          <p:nvSpPr>
            <p:cNvPr id="132" name="Data Retrieval:"/>
            <p:cNvSpPr txBox="1"/>
            <p:nvPr/>
          </p:nvSpPr>
          <p:spPr>
            <a:xfrm>
              <a:off x="3688031" y="1200515"/>
              <a:ext cx="313875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711200">
                <a:spcBef>
                  <a:spcPts val="600"/>
                </a:spcBef>
                <a:defRPr b="1" sz="1600"/>
              </a:lvl1pPr>
            </a:lstStyle>
            <a:p>
              <a:pPr/>
              <a:r>
                <a:t>Data Retrieval:</a:t>
              </a:r>
            </a:p>
          </p:txBody>
        </p:sp>
        <p:sp>
          <p:nvSpPr>
            <p:cNvPr id="133" name="Firebase fetches stored preferences.…"/>
            <p:cNvSpPr txBox="1"/>
            <p:nvPr/>
          </p:nvSpPr>
          <p:spPr>
            <a:xfrm>
              <a:off x="3688031" y="1718748"/>
              <a:ext cx="3138751" cy="5974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 defTabSz="533400">
                <a:spcBef>
                  <a:spcPts val="500"/>
                </a:spcBef>
                <a:defRPr sz="1200"/>
              </a:pPr>
              <a:r>
                <a:t>Firebase fetches stored preferences.</a:t>
              </a:r>
              <a:endParaRPr sz="2800"/>
            </a:p>
            <a:p>
              <a:pPr algn="ctr" defTabSz="533400">
                <a:spcBef>
                  <a:spcPts val="500"/>
                </a:spcBef>
                <a:defRPr sz="1200"/>
              </a:pPr>
              <a:r>
                <a:t>External APIs provide live data for events, hotels, and attractions.</a:t>
              </a:r>
            </a:p>
          </p:txBody>
        </p:sp>
        <p:sp>
          <p:nvSpPr>
            <p:cNvPr id="134" name="Square"/>
            <p:cNvSpPr/>
            <p:nvPr/>
          </p:nvSpPr>
          <p:spPr>
            <a:xfrm>
              <a:off x="8396157" y="0"/>
              <a:ext cx="1098563" cy="1098563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sp>
          <p:nvSpPr>
            <p:cNvPr id="135" name="Personalized Recommendations:"/>
            <p:cNvSpPr txBox="1"/>
            <p:nvPr/>
          </p:nvSpPr>
          <p:spPr>
            <a:xfrm>
              <a:off x="7376062" y="1200515"/>
              <a:ext cx="3138752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711200">
                <a:spcBef>
                  <a:spcPts val="600"/>
                </a:spcBef>
                <a:defRPr b="1" sz="1600"/>
              </a:lvl1pPr>
            </a:lstStyle>
            <a:p>
              <a:pPr/>
              <a:r>
                <a:t>Personalized Recommendations:</a:t>
              </a:r>
            </a:p>
          </p:txBody>
        </p:sp>
        <p:sp>
          <p:nvSpPr>
            <p:cNvPr id="136" name="Based on user interests and search history."/>
            <p:cNvSpPr txBox="1"/>
            <p:nvPr/>
          </p:nvSpPr>
          <p:spPr>
            <a:xfrm>
              <a:off x="7376062" y="1718748"/>
              <a:ext cx="313875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533400">
                <a:spcBef>
                  <a:spcPts val="500"/>
                </a:spcBef>
                <a:defRPr sz="1200"/>
              </a:lvl1pPr>
            </a:lstStyle>
            <a:p>
              <a:pPr/>
              <a:r>
                <a:t>Based on user interests and search history.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Rectangle 10"/>
          <p:cNvSpPr/>
          <p:nvPr/>
        </p:nvSpPr>
        <p:spPr>
          <a:xfrm flipH="1" rot="5400000">
            <a:off x="-1410084" y="1410081"/>
            <a:ext cx="6858001" cy="4037838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rgbClr val="104862"/>
              </a:gs>
            </a:gsLst>
            <a:lin ang="30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Rectangle 12"/>
          <p:cNvSpPr/>
          <p:nvPr/>
        </p:nvSpPr>
        <p:spPr>
          <a:xfrm flipH="1" rot="5400000">
            <a:off x="-1410085" y="1420219"/>
            <a:ext cx="6858000" cy="403784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Rectangle 14"/>
          <p:cNvSpPr/>
          <p:nvPr/>
        </p:nvSpPr>
        <p:spPr>
          <a:xfrm flipH="1" rot="5400000">
            <a:off x="767923" y="3588084"/>
            <a:ext cx="2501980" cy="403784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799999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Freeform: Shape 16"/>
          <p:cNvSpPr/>
          <p:nvPr/>
        </p:nvSpPr>
        <p:spPr>
          <a:xfrm rot="20635413">
            <a:off x="-501737" y="969717"/>
            <a:ext cx="3900357" cy="4178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470" y="486"/>
                </a:moveTo>
                <a:cubicBezTo>
                  <a:pt x="18180" y="1853"/>
                  <a:pt x="21600" y="5954"/>
                  <a:pt x="21600" y="10800"/>
                </a:cubicBezTo>
                <a:cubicBezTo>
                  <a:pt x="21600" y="16765"/>
                  <a:pt x="16419" y="21600"/>
                  <a:pt x="10029" y="21600"/>
                </a:cubicBezTo>
                <a:cubicBezTo>
                  <a:pt x="6034" y="21600"/>
                  <a:pt x="2513" y="19711"/>
                  <a:pt x="433" y="16838"/>
                </a:cubicBezTo>
                <a:lnTo>
                  <a:pt x="0" y="16173"/>
                </a:lnTo>
                <a:lnTo>
                  <a:pt x="4604" y="1263"/>
                </a:lnTo>
                <a:lnTo>
                  <a:pt x="5524" y="849"/>
                </a:lnTo>
                <a:cubicBezTo>
                  <a:pt x="6909" y="302"/>
                  <a:pt x="8431" y="0"/>
                  <a:pt x="10029" y="0"/>
                </a:cubicBezTo>
                <a:cubicBezTo>
                  <a:pt x="11227" y="0"/>
                  <a:pt x="12383" y="170"/>
                  <a:pt x="13470" y="486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Rectangle 18"/>
          <p:cNvSpPr/>
          <p:nvPr/>
        </p:nvSpPr>
        <p:spPr>
          <a:xfrm flipH="1" rot="5400000">
            <a:off x="-1410096" y="1410079"/>
            <a:ext cx="6858005" cy="403783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6B1E1">
                  <a:alpha val="11000"/>
                </a:srgbClr>
              </a:gs>
            </a:gsLst>
            <a:lin ang="7199999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itle 1"/>
          <p:cNvSpPr txBox="1"/>
          <p:nvPr>
            <p:ph type="title"/>
          </p:nvPr>
        </p:nvSpPr>
        <p:spPr>
          <a:xfrm>
            <a:off x="586477" y="1683755"/>
            <a:ext cx="3115267" cy="2396360"/>
          </a:xfrm>
          <a:prstGeom prst="rect">
            <a:avLst/>
          </a:prstGeom>
        </p:spPr>
        <p:txBody>
          <a:bodyPr anchor="b"/>
          <a:lstStyle>
            <a:lvl1pPr algn="r"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Features Implemented</a:t>
            </a:r>
          </a:p>
        </p:txBody>
      </p:sp>
      <p:grpSp>
        <p:nvGrpSpPr>
          <p:cNvPr id="170" name="Content Placeholder 2"/>
          <p:cNvGrpSpPr/>
          <p:nvPr/>
        </p:nvGrpSpPr>
        <p:grpSpPr>
          <a:xfrm>
            <a:off x="4905052" y="877345"/>
            <a:ext cx="6666834" cy="5208659"/>
            <a:chOff x="0" y="0"/>
            <a:chExt cx="6666833" cy="5208658"/>
          </a:xfrm>
        </p:grpSpPr>
        <p:grpSp>
          <p:nvGrpSpPr>
            <p:cNvPr id="148" name="Group"/>
            <p:cNvGrpSpPr/>
            <p:nvPr/>
          </p:nvGrpSpPr>
          <p:grpSpPr>
            <a:xfrm>
              <a:off x="0" y="280439"/>
              <a:ext cx="6666834" cy="822962"/>
              <a:chOff x="0" y="0"/>
              <a:chExt cx="6666833" cy="822960"/>
            </a:xfrm>
          </p:grpSpPr>
          <p:sp>
            <p:nvSpPr>
              <p:cNvPr id="146" name="Rectangle"/>
              <p:cNvSpPr/>
              <p:nvPr/>
            </p:nvSpPr>
            <p:spPr>
              <a:xfrm>
                <a:off x="0" y="0"/>
                <a:ext cx="6666834" cy="807975"/>
              </a:xfrm>
              <a:prstGeom prst="rect">
                <a:avLst/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844550">
                  <a:lnSpc>
                    <a:spcPct val="90000"/>
                  </a:lnSpc>
                  <a:spcBef>
                    <a:spcPts val="400"/>
                  </a:spcBef>
                  <a:defRPr sz="2400"/>
                </a:pPr>
              </a:p>
            </p:txBody>
          </p:sp>
          <p:sp>
            <p:nvSpPr>
              <p:cNvPr id="147" name="Users can save their favorite places and events."/>
              <p:cNvSpPr txBox="1"/>
              <p:nvPr/>
            </p:nvSpPr>
            <p:spPr>
              <a:xfrm>
                <a:off x="382292" y="260604"/>
                <a:ext cx="5902250" cy="5623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5128" tIns="135128" rIns="135128" bIns="135128" numCol="1" anchor="t">
                <a:spAutoFit/>
              </a:bodyPr>
              <a:lstStyle/>
              <a:p>
                <a:pPr lvl="1" marL="171449" indent="-171449" defTabSz="844550">
                  <a:lnSpc>
                    <a:spcPct val="90000"/>
                  </a:lnSpc>
                  <a:spcBef>
                    <a:spcPts val="300"/>
                  </a:spcBef>
                  <a:buSzPct val="100000"/>
                  <a:buFont typeface="Arial"/>
                  <a:buChar char="•"/>
                  <a:defRPr sz="1900"/>
                </a:pPr>
                <a:r>
                  <a:t>Users can save their favorite places and events.</a:t>
                </a:r>
              </a:p>
            </p:txBody>
          </p:sp>
        </p:grpSp>
        <p:grpSp>
          <p:nvGrpSpPr>
            <p:cNvPr id="151" name="Group"/>
            <p:cNvGrpSpPr/>
            <p:nvPr/>
          </p:nvGrpSpPr>
          <p:grpSpPr>
            <a:xfrm>
              <a:off x="333341" y="0"/>
              <a:ext cx="4666784" cy="560879"/>
              <a:chOff x="0" y="0"/>
              <a:chExt cx="4666782" cy="560878"/>
            </a:xfrm>
          </p:grpSpPr>
          <p:sp>
            <p:nvSpPr>
              <p:cNvPr id="149" name="Rounded Rectangle"/>
              <p:cNvSpPr/>
              <p:nvPr/>
            </p:nvSpPr>
            <p:spPr>
              <a:xfrm>
                <a:off x="0" y="0"/>
                <a:ext cx="4666783" cy="560879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ED8255"/>
                  </a:gs>
                  <a:gs pos="50000">
                    <a:srgbClr val="F26E29"/>
                  </a:gs>
                  <a:gs pos="100000">
                    <a:srgbClr val="E05E1A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844550">
                  <a:lnSpc>
                    <a:spcPct val="90000"/>
                  </a:lnSpc>
                  <a:spcBef>
                    <a:spcPts val="1100"/>
                  </a:spcBef>
                  <a:defRPr sz="1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0" name="Favorites &amp; Saved places:"/>
              <p:cNvSpPr txBox="1"/>
              <p:nvPr/>
            </p:nvSpPr>
            <p:spPr>
              <a:xfrm>
                <a:off x="203773" y="134389"/>
                <a:ext cx="4259238" cy="2921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defTabSz="844550">
                  <a:lnSpc>
                    <a:spcPct val="90000"/>
                  </a:lnSpc>
                  <a:spcBef>
                    <a:spcPts val="700"/>
                  </a:spcBef>
                  <a:defRPr b="1" sz="1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Favorites &amp; Saved places:</a:t>
                </a:r>
              </a:p>
            </p:txBody>
          </p:sp>
        </p:grpSp>
        <p:grpSp>
          <p:nvGrpSpPr>
            <p:cNvPr id="154" name="Group"/>
            <p:cNvGrpSpPr/>
            <p:nvPr/>
          </p:nvGrpSpPr>
          <p:grpSpPr>
            <a:xfrm>
              <a:off x="0" y="1471453"/>
              <a:ext cx="6666834" cy="1085851"/>
              <a:chOff x="0" y="0"/>
              <a:chExt cx="6666833" cy="1085850"/>
            </a:xfrm>
          </p:grpSpPr>
          <p:sp>
            <p:nvSpPr>
              <p:cNvPr id="152" name="Rectangle"/>
              <p:cNvSpPr/>
              <p:nvPr/>
            </p:nvSpPr>
            <p:spPr>
              <a:xfrm>
                <a:off x="0" y="0"/>
                <a:ext cx="6666834" cy="1077301"/>
              </a:xfrm>
              <a:prstGeom prst="rect">
                <a:avLst/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rgbClr val="CBC11E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844550">
                  <a:lnSpc>
                    <a:spcPct val="90000"/>
                  </a:lnSpc>
                  <a:spcBef>
                    <a:spcPts val="400"/>
                  </a:spcBef>
                  <a:defRPr sz="2400"/>
                </a:pPr>
              </a:p>
            </p:txBody>
          </p:sp>
          <p:sp>
            <p:nvSpPr>
              <p:cNvPr id="153" name="Display of recommended places, events, and accommodations."/>
              <p:cNvSpPr txBox="1"/>
              <p:nvPr/>
            </p:nvSpPr>
            <p:spPr>
              <a:xfrm>
                <a:off x="382292" y="260604"/>
                <a:ext cx="5902250" cy="8252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5128" tIns="135128" rIns="135128" bIns="135128" numCol="1" anchor="t">
                <a:spAutoFit/>
              </a:bodyPr>
              <a:lstStyle/>
              <a:p>
                <a:pPr lvl="1" marL="171449" indent="-171449" defTabSz="844550">
                  <a:lnSpc>
                    <a:spcPct val="90000"/>
                  </a:lnSpc>
                  <a:spcBef>
                    <a:spcPts val="300"/>
                  </a:spcBef>
                  <a:buSzPct val="100000"/>
                  <a:buFont typeface="Arial"/>
                  <a:buChar char="•"/>
                  <a:defRPr sz="1900"/>
                </a:pPr>
                <a:r>
                  <a:t>Display of recommended places, events, and accommodations.</a:t>
                </a:r>
              </a:p>
            </p:txBody>
          </p:sp>
        </p:grpSp>
        <p:grpSp>
          <p:nvGrpSpPr>
            <p:cNvPr id="157" name="Group"/>
            <p:cNvGrpSpPr/>
            <p:nvPr/>
          </p:nvGrpSpPr>
          <p:grpSpPr>
            <a:xfrm>
              <a:off x="333341" y="1191013"/>
              <a:ext cx="4666784" cy="560880"/>
              <a:chOff x="0" y="0"/>
              <a:chExt cx="4666782" cy="560878"/>
            </a:xfrm>
          </p:grpSpPr>
          <p:sp>
            <p:nvSpPr>
              <p:cNvPr id="155" name="Rounded Rectangle"/>
              <p:cNvSpPr/>
              <p:nvPr/>
            </p:nvSpPr>
            <p:spPr>
              <a:xfrm>
                <a:off x="0" y="0"/>
                <a:ext cx="4666783" cy="560879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D5CB4B"/>
                  </a:gs>
                  <a:gs pos="50000">
                    <a:srgbClr val="D4C815"/>
                  </a:gs>
                  <a:gs pos="100000">
                    <a:srgbClr val="C3B80B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844550">
                  <a:lnSpc>
                    <a:spcPct val="90000"/>
                  </a:lnSpc>
                  <a:spcBef>
                    <a:spcPts val="1100"/>
                  </a:spcBef>
                  <a:defRPr sz="1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6" name="Home Screen:"/>
              <p:cNvSpPr txBox="1"/>
              <p:nvPr/>
            </p:nvSpPr>
            <p:spPr>
              <a:xfrm>
                <a:off x="203773" y="134389"/>
                <a:ext cx="4259238" cy="2921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defTabSz="844550">
                  <a:lnSpc>
                    <a:spcPct val="90000"/>
                  </a:lnSpc>
                  <a:spcBef>
                    <a:spcPts val="700"/>
                  </a:spcBef>
                  <a:defRPr b="1" sz="1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Home Screen:</a:t>
                </a:r>
              </a:p>
            </p:txBody>
          </p:sp>
        </p:grpSp>
        <p:grpSp>
          <p:nvGrpSpPr>
            <p:cNvPr id="160" name="Group"/>
            <p:cNvGrpSpPr/>
            <p:nvPr/>
          </p:nvGrpSpPr>
          <p:grpSpPr>
            <a:xfrm>
              <a:off x="0" y="2931794"/>
              <a:ext cx="6666834" cy="822961"/>
              <a:chOff x="0" y="0"/>
              <a:chExt cx="6666833" cy="822960"/>
            </a:xfrm>
          </p:grpSpPr>
          <p:sp>
            <p:nvSpPr>
              <p:cNvPr id="158" name="Rectangle"/>
              <p:cNvSpPr/>
              <p:nvPr/>
            </p:nvSpPr>
            <p:spPr>
              <a:xfrm>
                <a:off x="0" y="0"/>
                <a:ext cx="6666834" cy="807975"/>
              </a:xfrm>
              <a:prstGeom prst="rect">
                <a:avLst/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rgbClr val="56991D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844550">
                  <a:lnSpc>
                    <a:spcPct val="90000"/>
                  </a:lnSpc>
                  <a:spcBef>
                    <a:spcPts val="400"/>
                  </a:spcBef>
                  <a:defRPr sz="2400"/>
                </a:pPr>
              </a:p>
            </p:txBody>
          </p:sp>
          <p:sp>
            <p:nvSpPr>
              <p:cNvPr id="159" name="Sign up, login, and data storage using Firebase."/>
              <p:cNvSpPr txBox="1"/>
              <p:nvPr/>
            </p:nvSpPr>
            <p:spPr>
              <a:xfrm>
                <a:off x="382292" y="260604"/>
                <a:ext cx="5902250" cy="5623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5128" tIns="135128" rIns="135128" bIns="135128" numCol="1" anchor="t">
                <a:spAutoFit/>
              </a:bodyPr>
              <a:lstStyle/>
              <a:p>
                <a:pPr lvl="1" marL="171449" indent="-171449" defTabSz="844550">
                  <a:lnSpc>
                    <a:spcPct val="90000"/>
                  </a:lnSpc>
                  <a:spcBef>
                    <a:spcPts val="300"/>
                  </a:spcBef>
                  <a:buSzPct val="100000"/>
                  <a:buFont typeface="Arial"/>
                  <a:buChar char="•"/>
                  <a:defRPr sz="1900"/>
                </a:pPr>
                <a:r>
                  <a:t>Sign up, login, and data storage using Firebase.</a:t>
                </a:r>
              </a:p>
            </p:txBody>
          </p:sp>
        </p:grpSp>
        <p:grpSp>
          <p:nvGrpSpPr>
            <p:cNvPr id="163" name="Group"/>
            <p:cNvGrpSpPr/>
            <p:nvPr/>
          </p:nvGrpSpPr>
          <p:grpSpPr>
            <a:xfrm>
              <a:off x="333341" y="2651353"/>
              <a:ext cx="4666784" cy="560880"/>
              <a:chOff x="0" y="0"/>
              <a:chExt cx="4666782" cy="560878"/>
            </a:xfrm>
          </p:grpSpPr>
          <p:sp>
            <p:nvSpPr>
              <p:cNvPr id="161" name="Rounded Rectangle"/>
              <p:cNvSpPr/>
              <p:nvPr/>
            </p:nvSpPr>
            <p:spPr>
              <a:xfrm>
                <a:off x="0" y="0"/>
                <a:ext cx="4666783" cy="560879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6CA64B"/>
                  </a:gs>
                  <a:gs pos="50000">
                    <a:srgbClr val="56A017"/>
                  </a:gs>
                  <a:gs pos="100000">
                    <a:srgbClr val="4C930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844550">
                  <a:lnSpc>
                    <a:spcPct val="90000"/>
                  </a:lnSpc>
                  <a:spcBef>
                    <a:spcPts val="1100"/>
                  </a:spcBef>
                  <a:defRPr sz="1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2" name="User Profile &amp; Authentication:"/>
              <p:cNvSpPr txBox="1"/>
              <p:nvPr/>
            </p:nvSpPr>
            <p:spPr>
              <a:xfrm>
                <a:off x="203773" y="134389"/>
                <a:ext cx="4259238" cy="2921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defTabSz="844550">
                  <a:lnSpc>
                    <a:spcPct val="90000"/>
                  </a:lnSpc>
                  <a:spcBef>
                    <a:spcPts val="700"/>
                  </a:spcBef>
                  <a:defRPr b="1" sz="1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User Profile &amp; Authentication:</a:t>
                </a:r>
              </a:p>
            </p:txBody>
          </p:sp>
        </p:grpSp>
        <p:grpSp>
          <p:nvGrpSpPr>
            <p:cNvPr id="166" name="Group"/>
            <p:cNvGrpSpPr/>
            <p:nvPr/>
          </p:nvGrpSpPr>
          <p:grpSpPr>
            <a:xfrm>
              <a:off x="0" y="4122808"/>
              <a:ext cx="6666834" cy="1085851"/>
              <a:chOff x="0" y="0"/>
              <a:chExt cx="6666833" cy="1085850"/>
            </a:xfrm>
          </p:grpSpPr>
          <p:sp>
            <p:nvSpPr>
              <p:cNvPr id="164" name="Rectangle"/>
              <p:cNvSpPr/>
              <p:nvPr/>
            </p:nvSpPr>
            <p:spPr>
              <a:xfrm>
                <a:off x="0" y="0"/>
                <a:ext cx="6666834" cy="1077301"/>
              </a:xfrm>
              <a:prstGeom prst="rect">
                <a:avLst/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844550">
                  <a:lnSpc>
                    <a:spcPct val="90000"/>
                  </a:lnSpc>
                  <a:spcBef>
                    <a:spcPts val="400"/>
                  </a:spcBef>
                  <a:defRPr sz="2400"/>
                </a:pPr>
              </a:p>
            </p:txBody>
          </p:sp>
          <p:sp>
            <p:nvSpPr>
              <p:cNvPr id="165" name="Search bar with real-time location and event suggestions."/>
              <p:cNvSpPr txBox="1"/>
              <p:nvPr/>
            </p:nvSpPr>
            <p:spPr>
              <a:xfrm>
                <a:off x="382292" y="260604"/>
                <a:ext cx="5902250" cy="8252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5128" tIns="135128" rIns="135128" bIns="135128" numCol="1" anchor="t">
                <a:spAutoFit/>
              </a:bodyPr>
              <a:lstStyle/>
              <a:p>
                <a:pPr lvl="1" marL="171449" indent="-171449" defTabSz="844550">
                  <a:lnSpc>
                    <a:spcPct val="90000"/>
                  </a:lnSpc>
                  <a:spcBef>
                    <a:spcPts val="300"/>
                  </a:spcBef>
                  <a:buSzPct val="100000"/>
                  <a:buFont typeface="Arial"/>
                  <a:buChar char="•"/>
                  <a:defRPr sz="1900"/>
                </a:pPr>
                <a:r>
                  <a:t>Search bar with real-time location and event suggestions.</a:t>
                </a:r>
              </a:p>
            </p:txBody>
          </p:sp>
        </p:grpSp>
        <p:grpSp>
          <p:nvGrpSpPr>
            <p:cNvPr id="169" name="Group"/>
            <p:cNvGrpSpPr/>
            <p:nvPr/>
          </p:nvGrpSpPr>
          <p:grpSpPr>
            <a:xfrm>
              <a:off x="333341" y="3842368"/>
              <a:ext cx="4666784" cy="560880"/>
              <a:chOff x="0" y="0"/>
              <a:chExt cx="4666782" cy="560878"/>
            </a:xfrm>
          </p:grpSpPr>
          <p:sp>
            <p:nvSpPr>
              <p:cNvPr id="167" name="Rounded Rectangle"/>
              <p:cNvSpPr/>
              <p:nvPr/>
            </p:nvSpPr>
            <p:spPr>
              <a:xfrm>
                <a:off x="0" y="0"/>
                <a:ext cx="4666783" cy="560879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4A7D4D"/>
                  </a:gs>
                  <a:gs pos="50000">
                    <a:srgbClr val="156F21"/>
                  </a:gs>
                  <a:gs pos="100000">
                    <a:srgbClr val="0F661B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844550">
                  <a:lnSpc>
                    <a:spcPct val="90000"/>
                  </a:lnSpc>
                  <a:spcBef>
                    <a:spcPts val="1100"/>
                  </a:spcBef>
                  <a:defRPr sz="1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8" name="Search &amp; Suggestions:"/>
              <p:cNvSpPr txBox="1"/>
              <p:nvPr/>
            </p:nvSpPr>
            <p:spPr>
              <a:xfrm>
                <a:off x="203773" y="134389"/>
                <a:ext cx="4259238" cy="2921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defTabSz="844550">
                  <a:lnSpc>
                    <a:spcPct val="90000"/>
                  </a:lnSpc>
                  <a:spcBef>
                    <a:spcPts val="700"/>
                  </a:spcBef>
                  <a:defRPr b="1" sz="1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Search &amp; Suggestions: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Rectangle 10"/>
          <p:cNvSpPr/>
          <p:nvPr/>
        </p:nvSpPr>
        <p:spPr>
          <a:xfrm flipH="1" rot="5400000">
            <a:off x="-1410084" y="1410081"/>
            <a:ext cx="6858001" cy="4037838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rgbClr val="104862"/>
              </a:gs>
            </a:gsLst>
            <a:lin ang="30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Rectangle 12"/>
          <p:cNvSpPr/>
          <p:nvPr/>
        </p:nvSpPr>
        <p:spPr>
          <a:xfrm flipH="1" rot="5400000">
            <a:off x="-1410085" y="1420219"/>
            <a:ext cx="6858000" cy="403784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Rectangle 14"/>
          <p:cNvSpPr/>
          <p:nvPr/>
        </p:nvSpPr>
        <p:spPr>
          <a:xfrm flipH="1" rot="5400000">
            <a:off x="767923" y="3588084"/>
            <a:ext cx="2501980" cy="403784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799999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Freeform: Shape 16"/>
          <p:cNvSpPr/>
          <p:nvPr/>
        </p:nvSpPr>
        <p:spPr>
          <a:xfrm rot="20635413">
            <a:off x="-501737" y="969717"/>
            <a:ext cx="3900357" cy="4178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470" y="486"/>
                </a:moveTo>
                <a:cubicBezTo>
                  <a:pt x="18180" y="1853"/>
                  <a:pt x="21600" y="5954"/>
                  <a:pt x="21600" y="10800"/>
                </a:cubicBezTo>
                <a:cubicBezTo>
                  <a:pt x="21600" y="16765"/>
                  <a:pt x="16419" y="21600"/>
                  <a:pt x="10029" y="21600"/>
                </a:cubicBezTo>
                <a:cubicBezTo>
                  <a:pt x="6034" y="21600"/>
                  <a:pt x="2513" y="19711"/>
                  <a:pt x="433" y="16838"/>
                </a:cubicBezTo>
                <a:lnTo>
                  <a:pt x="0" y="16173"/>
                </a:lnTo>
                <a:lnTo>
                  <a:pt x="4604" y="1263"/>
                </a:lnTo>
                <a:lnTo>
                  <a:pt x="5524" y="849"/>
                </a:lnTo>
                <a:cubicBezTo>
                  <a:pt x="6909" y="302"/>
                  <a:pt x="8431" y="0"/>
                  <a:pt x="10029" y="0"/>
                </a:cubicBezTo>
                <a:cubicBezTo>
                  <a:pt x="11227" y="0"/>
                  <a:pt x="12383" y="170"/>
                  <a:pt x="13470" y="486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Rectangle 18"/>
          <p:cNvSpPr/>
          <p:nvPr/>
        </p:nvSpPr>
        <p:spPr>
          <a:xfrm flipH="1" rot="5400000">
            <a:off x="-1410096" y="1410079"/>
            <a:ext cx="6858005" cy="403783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6B1E1">
                  <a:alpha val="11000"/>
                </a:srgbClr>
              </a:gs>
            </a:gsLst>
            <a:lin ang="7199999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Title 1"/>
          <p:cNvSpPr txBox="1"/>
          <p:nvPr>
            <p:ph type="title"/>
          </p:nvPr>
        </p:nvSpPr>
        <p:spPr>
          <a:xfrm>
            <a:off x="586477" y="1683755"/>
            <a:ext cx="3115267" cy="2396360"/>
          </a:xfrm>
          <a:prstGeom prst="rect">
            <a:avLst/>
          </a:prstGeom>
        </p:spPr>
        <p:txBody>
          <a:bodyPr anchor="b"/>
          <a:lstStyle/>
          <a:p>
            <a:pPr algn="r">
              <a:defRPr b="1" sz="2800">
                <a:solidFill>
                  <a:srgbClr val="FFFFFF"/>
                </a:solidFill>
              </a:defRPr>
            </a:pPr>
            <a:r>
              <a:t>Recommendation Algorithm &amp; </a:t>
            </a:r>
            <a:br/>
            <a:r>
              <a:t>Machine Learning</a:t>
            </a:r>
          </a:p>
        </p:txBody>
      </p:sp>
      <p:grpSp>
        <p:nvGrpSpPr>
          <p:cNvPr id="195" name="Content Placeholder 2"/>
          <p:cNvGrpSpPr/>
          <p:nvPr/>
        </p:nvGrpSpPr>
        <p:grpSpPr>
          <a:xfrm>
            <a:off x="4905052" y="842266"/>
            <a:ext cx="6666834" cy="5246673"/>
            <a:chOff x="0" y="0"/>
            <a:chExt cx="6666833" cy="5246671"/>
          </a:xfrm>
        </p:grpSpPr>
        <p:grpSp>
          <p:nvGrpSpPr>
            <p:cNvPr id="181" name="Group"/>
            <p:cNvGrpSpPr/>
            <p:nvPr/>
          </p:nvGrpSpPr>
          <p:grpSpPr>
            <a:xfrm>
              <a:off x="0" y="0"/>
              <a:ext cx="6666834" cy="540541"/>
              <a:chOff x="0" y="0"/>
              <a:chExt cx="6666833" cy="540540"/>
            </a:xfrm>
          </p:grpSpPr>
          <p:sp>
            <p:nvSpPr>
              <p:cNvPr id="179" name="Rounded Rectangle"/>
              <p:cNvSpPr/>
              <p:nvPr/>
            </p:nvSpPr>
            <p:spPr>
              <a:xfrm>
                <a:off x="0" y="0"/>
                <a:ext cx="6666834" cy="540541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ED8255"/>
                  </a:gs>
                  <a:gs pos="50000">
                    <a:srgbClr val="F26E29"/>
                  </a:gs>
                  <a:gs pos="100000">
                    <a:srgbClr val="E05E1A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77900">
                  <a:lnSpc>
                    <a:spcPct val="90000"/>
                  </a:lnSpc>
                  <a:spcBef>
                    <a:spcPts val="11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0" name="Type:"/>
              <p:cNvSpPr txBox="1"/>
              <p:nvPr/>
            </p:nvSpPr>
            <p:spPr>
              <a:xfrm>
                <a:off x="26387" y="21349"/>
                <a:ext cx="661406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3819" tIns="83819" rIns="83819" bIns="83819" numCol="1" anchor="ctr">
                <a:spAutoFit/>
              </a:bodyPr>
              <a:lstStyle/>
              <a:p>
                <a:pPr defTabSz="977900">
                  <a:lnSpc>
                    <a:spcPct val="90000"/>
                  </a:lnSpc>
                  <a:spcBef>
                    <a:spcPts val="900"/>
                  </a:spcBef>
                  <a:defRPr b="1" sz="2200">
                    <a:solidFill>
                      <a:srgbClr val="FFFFFF"/>
                    </a:solidFill>
                  </a:defRPr>
                </a:pPr>
                <a:r>
                  <a:t>Type:</a:t>
                </a:r>
                <a:r>
                  <a:rPr b="0"/>
                  <a:t> </a:t>
                </a:r>
              </a:p>
            </p:txBody>
          </p:sp>
        </p:grpSp>
        <p:sp>
          <p:nvSpPr>
            <p:cNvPr id="182" name="Content-Based Filtering (a Machine Learning approach for recommendations)."/>
            <p:cNvSpPr txBox="1"/>
            <p:nvPr/>
          </p:nvSpPr>
          <p:spPr>
            <a:xfrm>
              <a:off x="183732" y="540540"/>
              <a:ext cx="6354578" cy="5384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940" tIns="27940" rIns="27940" bIns="27940" numCol="1" anchor="t">
              <a:spAutoFit/>
            </a:bodyPr>
            <a:lstStyle/>
            <a:p>
              <a:pPr lvl="1" marL="171450" indent="-171450" defTabSz="755650">
                <a:lnSpc>
                  <a:spcPct val="90000"/>
                </a:lnSpc>
                <a:spcBef>
                  <a:spcPts val="400"/>
                </a:spcBef>
                <a:buSzPct val="100000"/>
                <a:buFont typeface="Arial"/>
                <a:buChar char="•"/>
                <a:defRPr sz="1700"/>
              </a:pPr>
              <a:r>
                <a:t>Content-Based Filtering (a Machine Learning approach for recommendations).</a:t>
              </a:r>
            </a:p>
          </p:txBody>
        </p:sp>
        <p:grpSp>
          <p:nvGrpSpPr>
            <p:cNvPr id="185" name="Group"/>
            <p:cNvGrpSpPr/>
            <p:nvPr/>
          </p:nvGrpSpPr>
          <p:grpSpPr>
            <a:xfrm>
              <a:off x="0" y="1075634"/>
              <a:ext cx="6666834" cy="540541"/>
              <a:chOff x="0" y="0"/>
              <a:chExt cx="6666833" cy="540540"/>
            </a:xfrm>
          </p:grpSpPr>
          <p:sp>
            <p:nvSpPr>
              <p:cNvPr id="183" name="Rounded Rectangle"/>
              <p:cNvSpPr/>
              <p:nvPr/>
            </p:nvSpPr>
            <p:spPr>
              <a:xfrm>
                <a:off x="0" y="0"/>
                <a:ext cx="6666834" cy="540541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D5CB4B"/>
                  </a:gs>
                  <a:gs pos="50000">
                    <a:srgbClr val="D4C815"/>
                  </a:gs>
                  <a:gs pos="100000">
                    <a:srgbClr val="C3B80B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77900">
                  <a:lnSpc>
                    <a:spcPct val="90000"/>
                  </a:lnSpc>
                  <a:spcBef>
                    <a:spcPts val="11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4" name="Algorithm Used:"/>
              <p:cNvSpPr txBox="1"/>
              <p:nvPr/>
            </p:nvSpPr>
            <p:spPr>
              <a:xfrm>
                <a:off x="26387" y="21350"/>
                <a:ext cx="661406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3819" tIns="83819" rIns="83819" bIns="83819" numCol="1" anchor="ctr">
                <a:spAutoFit/>
              </a:bodyPr>
              <a:lstStyle/>
              <a:p>
                <a:pPr defTabSz="977900">
                  <a:lnSpc>
                    <a:spcPct val="90000"/>
                  </a:lnSpc>
                  <a:spcBef>
                    <a:spcPts val="900"/>
                  </a:spcBef>
                  <a:defRPr b="1" sz="2200">
                    <a:solidFill>
                      <a:srgbClr val="FFFFFF"/>
                    </a:solidFill>
                  </a:defRPr>
                </a:pPr>
                <a:r>
                  <a:t>Algorithm Used:</a:t>
                </a:r>
                <a:r>
                  <a:rPr b="0"/>
                  <a:t> </a:t>
                </a:r>
              </a:p>
            </p:txBody>
          </p:sp>
        </p:grpSp>
        <p:sp>
          <p:nvSpPr>
            <p:cNvPr id="186" name="Cosine Similarity to measure event similarity."/>
            <p:cNvSpPr txBox="1"/>
            <p:nvPr/>
          </p:nvSpPr>
          <p:spPr>
            <a:xfrm>
              <a:off x="183732" y="1616174"/>
              <a:ext cx="6354578" cy="3098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940" tIns="27940" rIns="27940" bIns="27940" numCol="1" anchor="t">
              <a:spAutoFit/>
            </a:bodyPr>
            <a:lstStyle/>
            <a:p>
              <a:pPr lvl="1" marL="171450" indent="-171450" defTabSz="755650">
                <a:lnSpc>
                  <a:spcPct val="90000"/>
                </a:lnSpc>
                <a:spcBef>
                  <a:spcPts val="400"/>
                </a:spcBef>
                <a:buSzPct val="100000"/>
                <a:buFont typeface="Arial"/>
                <a:buChar char="•"/>
                <a:defRPr sz="1700"/>
              </a:pPr>
              <a:r>
                <a:t>Cosine Similarity to measure event similarity.</a:t>
              </a:r>
            </a:p>
          </p:txBody>
        </p:sp>
        <p:grpSp>
          <p:nvGrpSpPr>
            <p:cNvPr id="189" name="Group"/>
            <p:cNvGrpSpPr/>
            <p:nvPr/>
          </p:nvGrpSpPr>
          <p:grpSpPr>
            <a:xfrm>
              <a:off x="0" y="1980495"/>
              <a:ext cx="6666834" cy="540541"/>
              <a:chOff x="0" y="0"/>
              <a:chExt cx="6666833" cy="540540"/>
            </a:xfrm>
          </p:grpSpPr>
          <p:sp>
            <p:nvSpPr>
              <p:cNvPr id="187" name="Rounded Rectangle"/>
              <p:cNvSpPr/>
              <p:nvPr/>
            </p:nvSpPr>
            <p:spPr>
              <a:xfrm>
                <a:off x="0" y="0"/>
                <a:ext cx="6666834" cy="540541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6CA64B"/>
                  </a:gs>
                  <a:gs pos="50000">
                    <a:srgbClr val="56A017"/>
                  </a:gs>
                  <a:gs pos="100000">
                    <a:srgbClr val="4C930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77900">
                  <a:lnSpc>
                    <a:spcPct val="90000"/>
                  </a:lnSpc>
                  <a:spcBef>
                    <a:spcPts val="1100"/>
                  </a:spcBef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8" name="Process:"/>
              <p:cNvSpPr txBox="1"/>
              <p:nvPr/>
            </p:nvSpPr>
            <p:spPr>
              <a:xfrm>
                <a:off x="26387" y="21349"/>
                <a:ext cx="661406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3819" tIns="83819" rIns="83819" bIns="83819" numCol="1" anchor="ctr">
                <a:spAutoFit/>
              </a:bodyPr>
              <a:lstStyle>
                <a:lvl1pPr defTabSz="977900">
                  <a:lnSpc>
                    <a:spcPct val="90000"/>
                  </a:lnSpc>
                  <a:spcBef>
                    <a:spcPts val="900"/>
                  </a:spcBef>
                  <a:defRPr b="1" sz="22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Process:</a:t>
                </a:r>
              </a:p>
            </p:txBody>
          </p:sp>
        </p:grpSp>
        <p:sp>
          <p:nvSpPr>
            <p:cNvPr id="190" name="Events are one-hot encoded based on category, venue, city, and state.…"/>
            <p:cNvSpPr txBox="1"/>
            <p:nvPr/>
          </p:nvSpPr>
          <p:spPr>
            <a:xfrm>
              <a:off x="183732" y="2521035"/>
              <a:ext cx="6354578" cy="1327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940" tIns="27940" rIns="27940" bIns="27940" numCol="1" anchor="t">
              <a:spAutoFit/>
            </a:bodyPr>
            <a:lstStyle/>
            <a:p>
              <a:pPr lvl="1" marL="171450" indent="-171450" defTabSz="755650">
                <a:lnSpc>
                  <a:spcPct val="90000"/>
                </a:lnSpc>
                <a:spcBef>
                  <a:spcPts val="400"/>
                </a:spcBef>
                <a:buSzPct val="100000"/>
                <a:buFont typeface="Arial"/>
                <a:buChar char="•"/>
                <a:defRPr sz="1700"/>
              </a:pPr>
              <a:r>
                <a:t>Events are one-hot encoded based on category, venue, city, and state.</a:t>
              </a:r>
              <a:endParaRPr sz="2400"/>
            </a:p>
            <a:p>
              <a:pPr lvl="1" marL="171450" indent="-171450" defTabSz="755650">
                <a:lnSpc>
                  <a:spcPct val="90000"/>
                </a:lnSpc>
                <a:spcBef>
                  <a:spcPts val="400"/>
                </a:spcBef>
                <a:buSzPct val="100000"/>
                <a:buFont typeface="Arial"/>
                <a:buChar char="•"/>
                <a:defRPr sz="1700"/>
              </a:pPr>
              <a:r>
                <a:t>Cosine similarity is applied between favorite events and fetched events.</a:t>
              </a:r>
              <a:endParaRPr sz="2400"/>
            </a:p>
            <a:p>
              <a:pPr lvl="1" marL="171450" indent="-171450" defTabSz="755650">
                <a:lnSpc>
                  <a:spcPct val="90000"/>
                </a:lnSpc>
                <a:spcBef>
                  <a:spcPts val="400"/>
                </a:spcBef>
                <a:buSzPct val="100000"/>
                <a:buFont typeface="Arial"/>
                <a:buChar char="•"/>
                <a:defRPr sz="1700"/>
              </a:pPr>
              <a:r>
                <a:t>The top 5 most similar events are recommended to the user.</a:t>
              </a:r>
            </a:p>
          </p:txBody>
        </p:sp>
        <p:grpSp>
          <p:nvGrpSpPr>
            <p:cNvPr id="193" name="Group"/>
            <p:cNvGrpSpPr/>
            <p:nvPr/>
          </p:nvGrpSpPr>
          <p:grpSpPr>
            <a:xfrm>
              <a:off x="0" y="3887235"/>
              <a:ext cx="6666834" cy="540541"/>
              <a:chOff x="0" y="0"/>
              <a:chExt cx="6666833" cy="540540"/>
            </a:xfrm>
          </p:grpSpPr>
          <p:sp>
            <p:nvSpPr>
              <p:cNvPr id="191" name="Rounded Rectangle"/>
              <p:cNvSpPr/>
              <p:nvPr/>
            </p:nvSpPr>
            <p:spPr>
              <a:xfrm>
                <a:off x="0" y="0"/>
                <a:ext cx="6666834" cy="540541"/>
              </a:xfrm>
              <a:prstGeom prst="roundRect">
                <a:avLst>
                  <a:gd name="adj" fmla="val 16667"/>
                </a:avLst>
              </a:prstGeom>
              <a:gradFill flip="none" rotWithShape="1">
                <a:gsLst>
                  <a:gs pos="0">
                    <a:srgbClr val="4A7D4D"/>
                  </a:gs>
                  <a:gs pos="50000">
                    <a:srgbClr val="156F21"/>
                  </a:gs>
                  <a:gs pos="100000">
                    <a:srgbClr val="0F661B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77900">
                  <a:lnSpc>
                    <a:spcPct val="90000"/>
                  </a:lnSpc>
                  <a:spcBef>
                    <a:spcPts val="1100"/>
                  </a:spcBef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2" name="Comparison with Advanced ML Approaches:"/>
              <p:cNvSpPr txBox="1"/>
              <p:nvPr/>
            </p:nvSpPr>
            <p:spPr>
              <a:xfrm>
                <a:off x="26387" y="21349"/>
                <a:ext cx="661406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3819" tIns="83819" rIns="83819" bIns="83819" numCol="1" anchor="ctr">
                <a:spAutoFit/>
              </a:bodyPr>
              <a:lstStyle>
                <a:lvl1pPr defTabSz="977900">
                  <a:lnSpc>
                    <a:spcPct val="90000"/>
                  </a:lnSpc>
                  <a:spcBef>
                    <a:spcPts val="900"/>
                  </a:spcBef>
                  <a:defRPr b="1" sz="22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Comparison with Advanced ML Approaches:</a:t>
                </a:r>
              </a:p>
            </p:txBody>
          </p:sp>
        </p:grpSp>
        <p:sp>
          <p:nvSpPr>
            <p:cNvPr id="194" name="Current method: Uses event attributes.…"/>
            <p:cNvSpPr txBox="1"/>
            <p:nvPr/>
          </p:nvSpPr>
          <p:spPr>
            <a:xfrm>
              <a:off x="183732" y="4427775"/>
              <a:ext cx="6354578" cy="8188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940" tIns="27940" rIns="27940" bIns="27940" numCol="1" anchor="t">
              <a:spAutoFit/>
            </a:bodyPr>
            <a:lstStyle/>
            <a:p>
              <a:pPr lvl="1" marL="171450" indent="-171450" defTabSz="755650">
                <a:lnSpc>
                  <a:spcPct val="90000"/>
                </a:lnSpc>
                <a:spcBef>
                  <a:spcPts val="400"/>
                </a:spcBef>
                <a:buSzPct val="100000"/>
                <a:buFont typeface="Arial"/>
                <a:buChar char="•"/>
                <a:defRPr sz="1700"/>
              </a:pPr>
              <a:r>
                <a:t>Current method: Uses event attributes.</a:t>
              </a:r>
              <a:endParaRPr sz="2400"/>
            </a:p>
            <a:p>
              <a:pPr lvl="1" marL="171450" indent="-171450" defTabSz="755650">
                <a:lnSpc>
                  <a:spcPct val="90000"/>
                </a:lnSpc>
                <a:spcBef>
                  <a:spcPts val="400"/>
                </a:spcBef>
                <a:buSzPct val="100000"/>
                <a:buFont typeface="Arial"/>
                <a:buChar char="•"/>
                <a:defRPr sz="1700"/>
              </a:pPr>
              <a:r>
                <a:t>Future improvements: Implement collaborative filtering, deep learning, and graph-based recommendations.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lid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11451" t="0" r="44173" b="0"/>
          <a:stretch>
            <a:fillRect/>
          </a:stretch>
        </p:blipFill>
        <p:spPr>
          <a:xfrm>
            <a:off x="-2" y="-3"/>
            <a:ext cx="5410199" cy="6858004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Rectangle 10"/>
          <p:cNvSpPr/>
          <p:nvPr/>
        </p:nvSpPr>
        <p:spPr>
          <a:xfrm>
            <a:off x="5410196" y="-2"/>
            <a:ext cx="6781804" cy="228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55600" dist="152400" dir="0">
              <a:srgbClr val="000000">
                <a:alpha val="29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itle 1"/>
          <p:cNvSpPr txBox="1"/>
          <p:nvPr>
            <p:ph type="title"/>
          </p:nvPr>
        </p:nvSpPr>
        <p:spPr>
          <a:xfrm>
            <a:off x="6115317" y="405684"/>
            <a:ext cx="5464969" cy="1559303"/>
          </a:xfrm>
          <a:prstGeom prst="rect">
            <a:avLst/>
          </a:prstGeom>
        </p:spPr>
        <p:txBody>
          <a:bodyPr/>
          <a:lstStyle>
            <a:lvl1pPr>
              <a:defRPr b="1" sz="4000"/>
            </a:lvl1pPr>
          </a:lstStyle>
          <a:p>
            <a:pPr/>
            <a:r>
              <a:t>Challenges &amp; Solutions</a:t>
            </a:r>
          </a:p>
        </p:txBody>
      </p:sp>
      <p:sp>
        <p:nvSpPr>
          <p:cNvPr id="201" name="Content Placeholder 2"/>
          <p:cNvSpPr txBox="1"/>
          <p:nvPr>
            <p:ph type="body" sz="half" idx="1"/>
          </p:nvPr>
        </p:nvSpPr>
        <p:spPr>
          <a:xfrm>
            <a:off x="6115317" y="2743200"/>
            <a:ext cx="5247341" cy="3496879"/>
          </a:xfrm>
          <a:prstGeom prst="rect">
            <a:avLst/>
          </a:prstGeom>
        </p:spPr>
        <p:txBody>
          <a:bodyPr anchor="ctr"/>
          <a:lstStyle/>
          <a:p>
            <a:pPr marL="217170" indent="-217170" defTabSz="868680">
              <a:spcBef>
                <a:spcPts val="900"/>
              </a:spcBef>
              <a:defRPr b="1" sz="1615"/>
            </a:pPr>
            <a:r>
              <a:t>Challenges:</a:t>
            </a:r>
          </a:p>
          <a:p>
            <a:pPr lvl="1" marL="705802" indent="-271462" defTabSz="868680">
              <a:spcBef>
                <a:spcPts val="400"/>
              </a:spcBef>
              <a:defRPr sz="1615"/>
            </a:pPr>
            <a:r>
              <a:t>Integrating multiple APIs for real-time data.</a:t>
            </a:r>
            <a:endParaRPr sz="2280"/>
          </a:p>
          <a:p>
            <a:pPr lvl="1" marL="705802" indent="-271462" defTabSz="868680">
              <a:spcBef>
                <a:spcPts val="400"/>
              </a:spcBef>
              <a:defRPr sz="1615"/>
            </a:pPr>
            <a:r>
              <a:t>Managing user authentication and data privacy.</a:t>
            </a:r>
            <a:endParaRPr sz="2280"/>
          </a:p>
          <a:p>
            <a:pPr lvl="1" marL="705802" indent="-271462" defTabSz="868680">
              <a:spcBef>
                <a:spcPts val="400"/>
              </a:spcBef>
              <a:defRPr sz="1615"/>
            </a:pPr>
            <a:r>
              <a:t>Ensuring smooth navigation and UI performance.</a:t>
            </a:r>
            <a:endParaRPr sz="2280"/>
          </a:p>
          <a:p>
            <a:pPr lvl="1" marL="705802" indent="-271462" defTabSz="868680">
              <a:spcBef>
                <a:spcPts val="400"/>
              </a:spcBef>
              <a:defRPr sz="1615"/>
            </a:pPr>
            <a:r>
              <a:t>Designing a Recommendations System.</a:t>
            </a:r>
            <a:endParaRPr sz="2280"/>
          </a:p>
          <a:p>
            <a:pPr marL="217170" indent="-217170" defTabSz="868680">
              <a:spcBef>
                <a:spcPts val="900"/>
              </a:spcBef>
              <a:defRPr b="1" sz="1615"/>
            </a:pPr>
            <a:r>
              <a:t>Solutions:</a:t>
            </a:r>
          </a:p>
          <a:p>
            <a:pPr lvl="1" marL="705802" indent="-271462" defTabSz="868680">
              <a:spcBef>
                <a:spcPts val="400"/>
              </a:spcBef>
              <a:defRPr sz="1615"/>
            </a:pPr>
            <a:r>
              <a:t>Optimized API calls and caching.</a:t>
            </a:r>
            <a:endParaRPr sz="2280"/>
          </a:p>
          <a:p>
            <a:pPr lvl="1" marL="705802" indent="-271462" defTabSz="868680">
              <a:spcBef>
                <a:spcPts val="400"/>
              </a:spcBef>
              <a:defRPr sz="1615"/>
            </a:pPr>
            <a:r>
              <a:t>Firebase security rules for data protection.</a:t>
            </a:r>
            <a:endParaRPr sz="2280"/>
          </a:p>
          <a:p>
            <a:pPr lvl="1" marL="705802" indent="-271462" defTabSz="868680">
              <a:spcBef>
                <a:spcPts val="400"/>
              </a:spcBef>
              <a:defRPr sz="1615"/>
            </a:pPr>
            <a:r>
              <a:t>Implementing efficient navigation and state management.</a:t>
            </a:r>
            <a:endParaRPr sz="228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8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32104">
              <a:defRPr b="1" sz="4914"/>
            </a:lvl1pPr>
          </a:lstStyle>
          <a:p>
            <a:pPr/>
            <a:r>
              <a:t>Next Steps &amp; Future Improvements</a:t>
            </a:r>
          </a:p>
        </p:txBody>
      </p:sp>
      <p:grpSp>
        <p:nvGrpSpPr>
          <p:cNvPr id="207" name="sketch line"/>
          <p:cNvGrpSpPr/>
          <p:nvPr/>
        </p:nvGrpSpPr>
        <p:grpSpPr>
          <a:xfrm>
            <a:off x="837788" y="1846111"/>
            <a:ext cx="10424659" cy="57554"/>
            <a:chOff x="0" y="0"/>
            <a:chExt cx="10424657" cy="57553"/>
          </a:xfrm>
        </p:grpSpPr>
        <p:sp>
          <p:nvSpPr>
            <p:cNvPr id="205" name="Shape"/>
            <p:cNvSpPr/>
            <p:nvPr/>
          </p:nvSpPr>
          <p:spPr>
            <a:xfrm>
              <a:off x="-1" y="0"/>
              <a:ext cx="10424615" cy="55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1938" fill="norm" stroke="1" extrusionOk="0">
                  <a:moveTo>
                    <a:pt x="1" y="4126"/>
                  </a:moveTo>
                  <a:cubicBezTo>
                    <a:pt x="250" y="7821"/>
                    <a:pt x="716" y="4481"/>
                    <a:pt x="1225" y="4126"/>
                  </a:cubicBezTo>
                  <a:cubicBezTo>
                    <a:pt x="1734" y="3771"/>
                    <a:pt x="1722" y="1774"/>
                    <a:pt x="2017" y="4126"/>
                  </a:cubicBezTo>
                  <a:cubicBezTo>
                    <a:pt x="2312" y="6478"/>
                    <a:pt x="3397" y="7837"/>
                    <a:pt x="3889" y="4126"/>
                  </a:cubicBezTo>
                  <a:cubicBezTo>
                    <a:pt x="4381" y="415"/>
                    <a:pt x="4691" y="10067"/>
                    <a:pt x="5113" y="4126"/>
                  </a:cubicBezTo>
                  <a:cubicBezTo>
                    <a:pt x="5535" y="-1814"/>
                    <a:pt x="5943" y="3793"/>
                    <a:pt x="6337" y="4126"/>
                  </a:cubicBezTo>
                  <a:cubicBezTo>
                    <a:pt x="6730" y="4460"/>
                    <a:pt x="7728" y="13833"/>
                    <a:pt x="8209" y="4126"/>
                  </a:cubicBezTo>
                  <a:cubicBezTo>
                    <a:pt x="8690" y="-5581"/>
                    <a:pt x="8939" y="5000"/>
                    <a:pt x="9217" y="4126"/>
                  </a:cubicBezTo>
                  <a:cubicBezTo>
                    <a:pt x="9494" y="3252"/>
                    <a:pt x="10617" y="6676"/>
                    <a:pt x="11088" y="4126"/>
                  </a:cubicBezTo>
                  <a:cubicBezTo>
                    <a:pt x="11560" y="1576"/>
                    <a:pt x="12524" y="-168"/>
                    <a:pt x="12960" y="4126"/>
                  </a:cubicBezTo>
                  <a:cubicBezTo>
                    <a:pt x="13396" y="8421"/>
                    <a:pt x="13810" y="5036"/>
                    <a:pt x="14400" y="4126"/>
                  </a:cubicBezTo>
                  <a:cubicBezTo>
                    <a:pt x="14990" y="3217"/>
                    <a:pt x="15535" y="10301"/>
                    <a:pt x="16272" y="4126"/>
                  </a:cubicBezTo>
                  <a:cubicBezTo>
                    <a:pt x="17009" y="-2048"/>
                    <a:pt x="17173" y="4688"/>
                    <a:pt x="17496" y="4126"/>
                  </a:cubicBezTo>
                  <a:cubicBezTo>
                    <a:pt x="17819" y="3564"/>
                    <a:pt x="18382" y="1093"/>
                    <a:pt x="18720" y="4126"/>
                  </a:cubicBezTo>
                  <a:cubicBezTo>
                    <a:pt x="19058" y="7159"/>
                    <a:pt x="19902" y="-3530"/>
                    <a:pt x="20376" y="4126"/>
                  </a:cubicBezTo>
                  <a:cubicBezTo>
                    <a:pt x="20849" y="11782"/>
                    <a:pt x="21201" y="2365"/>
                    <a:pt x="21600" y="4126"/>
                  </a:cubicBezTo>
                  <a:cubicBezTo>
                    <a:pt x="21600" y="5071"/>
                    <a:pt x="21600" y="6227"/>
                    <a:pt x="21600" y="8056"/>
                  </a:cubicBezTo>
                  <a:cubicBezTo>
                    <a:pt x="20843" y="2886"/>
                    <a:pt x="20603" y="94"/>
                    <a:pt x="19944" y="8056"/>
                  </a:cubicBezTo>
                  <a:cubicBezTo>
                    <a:pt x="19285" y="16019"/>
                    <a:pt x="19124" y="9498"/>
                    <a:pt x="18504" y="8056"/>
                  </a:cubicBezTo>
                  <a:cubicBezTo>
                    <a:pt x="17884" y="6615"/>
                    <a:pt x="17918" y="6475"/>
                    <a:pt x="17712" y="8056"/>
                  </a:cubicBezTo>
                  <a:cubicBezTo>
                    <a:pt x="17506" y="9637"/>
                    <a:pt x="16936" y="4173"/>
                    <a:pt x="16704" y="8056"/>
                  </a:cubicBezTo>
                  <a:cubicBezTo>
                    <a:pt x="16472" y="11939"/>
                    <a:pt x="15410" y="7890"/>
                    <a:pt x="14832" y="8056"/>
                  </a:cubicBezTo>
                  <a:cubicBezTo>
                    <a:pt x="14254" y="8222"/>
                    <a:pt x="13697" y="6031"/>
                    <a:pt x="13392" y="8056"/>
                  </a:cubicBezTo>
                  <a:cubicBezTo>
                    <a:pt x="13087" y="10082"/>
                    <a:pt x="12692" y="5198"/>
                    <a:pt x="12384" y="8056"/>
                  </a:cubicBezTo>
                  <a:cubicBezTo>
                    <a:pt x="12077" y="10914"/>
                    <a:pt x="11536" y="5655"/>
                    <a:pt x="10944" y="8056"/>
                  </a:cubicBezTo>
                  <a:cubicBezTo>
                    <a:pt x="10353" y="10458"/>
                    <a:pt x="10538" y="8530"/>
                    <a:pt x="10153" y="8056"/>
                  </a:cubicBezTo>
                  <a:cubicBezTo>
                    <a:pt x="9767" y="7582"/>
                    <a:pt x="9545" y="11510"/>
                    <a:pt x="9361" y="8056"/>
                  </a:cubicBezTo>
                  <a:cubicBezTo>
                    <a:pt x="9176" y="4603"/>
                    <a:pt x="8549" y="15390"/>
                    <a:pt x="7921" y="8056"/>
                  </a:cubicBezTo>
                  <a:cubicBezTo>
                    <a:pt x="7293" y="722"/>
                    <a:pt x="7156" y="4955"/>
                    <a:pt x="6913" y="8056"/>
                  </a:cubicBezTo>
                  <a:cubicBezTo>
                    <a:pt x="6669" y="11157"/>
                    <a:pt x="5634" y="1131"/>
                    <a:pt x="5257" y="8056"/>
                  </a:cubicBezTo>
                  <a:cubicBezTo>
                    <a:pt x="4879" y="14981"/>
                    <a:pt x="4540" y="4822"/>
                    <a:pt x="4249" y="8056"/>
                  </a:cubicBezTo>
                  <a:cubicBezTo>
                    <a:pt x="3958" y="11291"/>
                    <a:pt x="3153" y="4784"/>
                    <a:pt x="2593" y="8056"/>
                  </a:cubicBezTo>
                  <a:cubicBezTo>
                    <a:pt x="2033" y="11328"/>
                    <a:pt x="2059" y="10151"/>
                    <a:pt x="1801" y="8056"/>
                  </a:cubicBezTo>
                  <a:cubicBezTo>
                    <a:pt x="1544" y="5961"/>
                    <a:pt x="479" y="11296"/>
                    <a:pt x="1" y="8056"/>
                  </a:cubicBezTo>
                  <a:cubicBezTo>
                    <a:pt x="0" y="6727"/>
                    <a:pt x="0" y="5785"/>
                    <a:pt x="1" y="412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6" name="Shape"/>
            <p:cNvSpPr/>
            <p:nvPr/>
          </p:nvSpPr>
          <p:spPr>
            <a:xfrm>
              <a:off x="310" y="2592"/>
              <a:ext cx="10424348" cy="54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3386" fill="norm" stroke="1" extrusionOk="0">
                  <a:moveTo>
                    <a:pt x="0" y="4045"/>
                  </a:moveTo>
                  <a:cubicBezTo>
                    <a:pt x="521" y="3102"/>
                    <a:pt x="994" y="-950"/>
                    <a:pt x="1872" y="4045"/>
                  </a:cubicBezTo>
                  <a:cubicBezTo>
                    <a:pt x="2751" y="9040"/>
                    <a:pt x="2441" y="2246"/>
                    <a:pt x="2880" y="4045"/>
                  </a:cubicBezTo>
                  <a:cubicBezTo>
                    <a:pt x="3319" y="5845"/>
                    <a:pt x="3996" y="2414"/>
                    <a:pt x="4536" y="4045"/>
                  </a:cubicBezTo>
                  <a:cubicBezTo>
                    <a:pt x="5076" y="5676"/>
                    <a:pt x="5056" y="-1105"/>
                    <a:pt x="5544" y="4045"/>
                  </a:cubicBezTo>
                  <a:cubicBezTo>
                    <a:pt x="6032" y="9195"/>
                    <a:pt x="6271" y="1336"/>
                    <a:pt x="6984" y="4045"/>
                  </a:cubicBezTo>
                  <a:cubicBezTo>
                    <a:pt x="7697" y="6755"/>
                    <a:pt x="8008" y="1449"/>
                    <a:pt x="8640" y="4045"/>
                  </a:cubicBezTo>
                  <a:cubicBezTo>
                    <a:pt x="9272" y="6642"/>
                    <a:pt x="9265" y="8061"/>
                    <a:pt x="9432" y="4045"/>
                  </a:cubicBezTo>
                  <a:cubicBezTo>
                    <a:pt x="9599" y="29"/>
                    <a:pt x="9919" y="5990"/>
                    <a:pt x="10224" y="4045"/>
                  </a:cubicBezTo>
                  <a:cubicBezTo>
                    <a:pt x="10529" y="2100"/>
                    <a:pt x="11554" y="-3993"/>
                    <a:pt x="12096" y="4045"/>
                  </a:cubicBezTo>
                  <a:cubicBezTo>
                    <a:pt x="12638" y="12084"/>
                    <a:pt x="13066" y="7497"/>
                    <a:pt x="13536" y="4045"/>
                  </a:cubicBezTo>
                  <a:cubicBezTo>
                    <a:pt x="14005" y="594"/>
                    <a:pt x="13938" y="7972"/>
                    <a:pt x="14328" y="4045"/>
                  </a:cubicBezTo>
                  <a:cubicBezTo>
                    <a:pt x="14717" y="119"/>
                    <a:pt x="15329" y="11984"/>
                    <a:pt x="15768" y="4045"/>
                  </a:cubicBezTo>
                  <a:cubicBezTo>
                    <a:pt x="16206" y="-3893"/>
                    <a:pt x="16869" y="3133"/>
                    <a:pt x="17639" y="4045"/>
                  </a:cubicBezTo>
                  <a:cubicBezTo>
                    <a:pt x="18410" y="4957"/>
                    <a:pt x="18395" y="4863"/>
                    <a:pt x="18863" y="4045"/>
                  </a:cubicBezTo>
                  <a:cubicBezTo>
                    <a:pt x="19332" y="3227"/>
                    <a:pt x="19779" y="-301"/>
                    <a:pt x="20087" y="4045"/>
                  </a:cubicBezTo>
                  <a:cubicBezTo>
                    <a:pt x="20396" y="8391"/>
                    <a:pt x="21057" y="3749"/>
                    <a:pt x="21599" y="4045"/>
                  </a:cubicBezTo>
                  <a:cubicBezTo>
                    <a:pt x="21600" y="5906"/>
                    <a:pt x="21598" y="6795"/>
                    <a:pt x="21599" y="8500"/>
                  </a:cubicBezTo>
                  <a:cubicBezTo>
                    <a:pt x="21103" y="9091"/>
                    <a:pt x="20792" y="1766"/>
                    <a:pt x="20159" y="8500"/>
                  </a:cubicBezTo>
                  <a:cubicBezTo>
                    <a:pt x="19526" y="15233"/>
                    <a:pt x="19289" y="12904"/>
                    <a:pt x="18503" y="8500"/>
                  </a:cubicBezTo>
                  <a:cubicBezTo>
                    <a:pt x="17718" y="4095"/>
                    <a:pt x="17640" y="12499"/>
                    <a:pt x="16848" y="8500"/>
                  </a:cubicBezTo>
                  <a:cubicBezTo>
                    <a:pt x="16055" y="4501"/>
                    <a:pt x="16296" y="8834"/>
                    <a:pt x="15840" y="8500"/>
                  </a:cubicBezTo>
                  <a:cubicBezTo>
                    <a:pt x="15383" y="8166"/>
                    <a:pt x="14395" y="17607"/>
                    <a:pt x="13968" y="8500"/>
                  </a:cubicBezTo>
                  <a:cubicBezTo>
                    <a:pt x="13541" y="-608"/>
                    <a:pt x="13083" y="12178"/>
                    <a:pt x="12528" y="8500"/>
                  </a:cubicBezTo>
                  <a:cubicBezTo>
                    <a:pt x="11973" y="4821"/>
                    <a:pt x="11991" y="4396"/>
                    <a:pt x="11736" y="8500"/>
                  </a:cubicBezTo>
                  <a:cubicBezTo>
                    <a:pt x="11481" y="12603"/>
                    <a:pt x="10785" y="10240"/>
                    <a:pt x="10296" y="8500"/>
                  </a:cubicBezTo>
                  <a:cubicBezTo>
                    <a:pt x="9807" y="6759"/>
                    <a:pt x="9449" y="12465"/>
                    <a:pt x="9072" y="8500"/>
                  </a:cubicBezTo>
                  <a:cubicBezTo>
                    <a:pt x="8695" y="4534"/>
                    <a:pt x="8272" y="12670"/>
                    <a:pt x="7848" y="8500"/>
                  </a:cubicBezTo>
                  <a:cubicBezTo>
                    <a:pt x="7424" y="4330"/>
                    <a:pt x="7229" y="2198"/>
                    <a:pt x="6624" y="8500"/>
                  </a:cubicBezTo>
                  <a:cubicBezTo>
                    <a:pt x="6019" y="14801"/>
                    <a:pt x="5657" y="15226"/>
                    <a:pt x="5400" y="8500"/>
                  </a:cubicBezTo>
                  <a:cubicBezTo>
                    <a:pt x="5144" y="1773"/>
                    <a:pt x="4146" y="2706"/>
                    <a:pt x="3744" y="8500"/>
                  </a:cubicBezTo>
                  <a:cubicBezTo>
                    <a:pt x="3343" y="14293"/>
                    <a:pt x="2717" y="3013"/>
                    <a:pt x="2304" y="8500"/>
                  </a:cubicBezTo>
                  <a:cubicBezTo>
                    <a:pt x="1892" y="13987"/>
                    <a:pt x="1848" y="4460"/>
                    <a:pt x="1512" y="8500"/>
                  </a:cubicBezTo>
                  <a:cubicBezTo>
                    <a:pt x="1177" y="12540"/>
                    <a:pt x="421" y="12439"/>
                    <a:pt x="0" y="8500"/>
                  </a:cubicBezTo>
                  <a:cubicBezTo>
                    <a:pt x="0" y="6897"/>
                    <a:pt x="0" y="6227"/>
                    <a:pt x="0" y="4045"/>
                  </a:cubicBezTo>
                  <a:close/>
                </a:path>
              </a:pathLst>
            </a:custGeom>
            <a:noFill/>
            <a:ln w="41275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238" name="Content Placeholder 2"/>
          <p:cNvGrpSpPr/>
          <p:nvPr/>
        </p:nvGrpSpPr>
        <p:grpSpPr>
          <a:xfrm>
            <a:off x="838200" y="2153237"/>
            <a:ext cx="10515601" cy="4022010"/>
            <a:chOff x="0" y="0"/>
            <a:chExt cx="10515600" cy="4022008"/>
          </a:xfrm>
        </p:grpSpPr>
        <p:grpSp>
          <p:nvGrpSpPr>
            <p:cNvPr id="210" name="Group"/>
            <p:cNvGrpSpPr/>
            <p:nvPr/>
          </p:nvGrpSpPr>
          <p:grpSpPr>
            <a:xfrm>
              <a:off x="2103119" y="-1"/>
              <a:ext cx="8412482" cy="906080"/>
              <a:chOff x="0" y="0"/>
              <a:chExt cx="8412480" cy="906078"/>
            </a:xfrm>
          </p:grpSpPr>
          <p:sp>
            <p:nvSpPr>
              <p:cNvPr id="208" name="Rectangle"/>
              <p:cNvSpPr/>
              <p:nvPr/>
            </p:nvSpPr>
            <p:spPr>
              <a:xfrm>
                <a:off x="0" y="76565"/>
                <a:ext cx="8412481" cy="752948"/>
              </a:xfrm>
              <a:prstGeom prst="rect">
                <a:avLst/>
              </a:prstGeom>
              <a:solidFill>
                <a:srgbClr val="DFCBDB">
                  <a:alpha val="90000"/>
                </a:srgbClr>
              </a:solidFill>
              <a:ln w="19050" cap="flat">
                <a:solidFill>
                  <a:srgbClr val="DFCBDB">
                    <a:alpha val="9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1100"/>
                  </a:spcBef>
                  <a:defRPr sz="2800"/>
                </a:pPr>
              </a:p>
            </p:txBody>
          </p:sp>
          <p:sp>
            <p:nvSpPr>
              <p:cNvPr id="209" name="-Advanced filtering options for places and events.…"/>
              <p:cNvSpPr txBox="1"/>
              <p:nvPr/>
            </p:nvSpPr>
            <p:spPr>
              <a:xfrm>
                <a:off x="0" y="-1"/>
                <a:ext cx="8412481" cy="9060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63225" tIns="163225" rIns="163225" bIns="163225" numCol="1" anchor="ctr">
                <a:sp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400"/>
                  </a:spcBef>
                  <a:defRPr sz="1100"/>
                </a:pPr>
                <a:r>
                  <a:t>-Advanced filtering options for places and events.</a:t>
                </a:r>
                <a:endParaRPr sz="2800"/>
              </a:p>
              <a:p>
                <a:pPr defTabSz="488950">
                  <a:lnSpc>
                    <a:spcPct val="90000"/>
                  </a:lnSpc>
                  <a:spcBef>
                    <a:spcPts val="400"/>
                  </a:spcBef>
                  <a:defRPr sz="1100"/>
                </a:pPr>
                <a:r>
                  <a:t>-Enhanced UI/UX for better usability.</a:t>
                </a:r>
                <a:endParaRPr sz="2800"/>
              </a:p>
              <a:p>
                <a:pPr defTabSz="488950">
                  <a:lnSpc>
                    <a:spcPct val="90000"/>
                  </a:lnSpc>
                  <a:spcBef>
                    <a:spcPts val="400"/>
                  </a:spcBef>
                  <a:defRPr sz="1100"/>
                </a:pPr>
                <a:r>
                  <a:t>-More integrations with open-source travel databases.</a:t>
                </a:r>
              </a:p>
            </p:txBody>
          </p:sp>
        </p:grpSp>
        <p:grpSp>
          <p:nvGrpSpPr>
            <p:cNvPr id="213" name="Group"/>
            <p:cNvGrpSpPr/>
            <p:nvPr/>
          </p:nvGrpSpPr>
          <p:grpSpPr>
            <a:xfrm>
              <a:off x="0" y="76565"/>
              <a:ext cx="2103121" cy="752948"/>
              <a:chOff x="0" y="0"/>
              <a:chExt cx="2103120" cy="752947"/>
            </a:xfrm>
          </p:grpSpPr>
          <p:sp>
            <p:nvSpPr>
              <p:cNvPr id="211" name="Rectangle"/>
              <p:cNvSpPr/>
              <p:nvPr/>
            </p:nvSpPr>
            <p:spPr>
              <a:xfrm>
                <a:off x="-1" y="-1"/>
                <a:ext cx="2103122" cy="752949"/>
              </a:xfrm>
              <a:prstGeom prst="rect">
                <a:avLst/>
              </a:prstGeom>
              <a:solidFill>
                <a:schemeClr val="accent5"/>
              </a:solidFill>
              <a:ln w="19050" cap="flat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1100"/>
                  </a:spcBef>
                  <a:defRPr sz="1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12" name="Upcoming Features:"/>
              <p:cNvSpPr txBox="1"/>
              <p:nvPr/>
            </p:nvSpPr>
            <p:spPr>
              <a:xfrm>
                <a:off x="36916" y="194149"/>
                <a:ext cx="2029289" cy="3646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74373" tIns="74373" rIns="74373" bIns="74373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b="1" sz="1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Upcoming Features:</a:t>
                </a:r>
              </a:p>
            </p:txBody>
          </p:sp>
        </p:grpSp>
        <p:grpSp>
          <p:nvGrpSpPr>
            <p:cNvPr id="216" name="Group"/>
            <p:cNvGrpSpPr/>
            <p:nvPr/>
          </p:nvGrpSpPr>
          <p:grpSpPr>
            <a:xfrm>
              <a:off x="2103119" y="874689"/>
              <a:ext cx="8412482" cy="752948"/>
              <a:chOff x="0" y="0"/>
              <a:chExt cx="8412480" cy="752947"/>
            </a:xfrm>
          </p:grpSpPr>
          <p:sp>
            <p:nvSpPr>
              <p:cNvPr id="214" name="Rectangle"/>
              <p:cNvSpPr/>
              <p:nvPr/>
            </p:nvSpPr>
            <p:spPr>
              <a:xfrm>
                <a:off x="-1" y="-1"/>
                <a:ext cx="8412482" cy="752949"/>
              </a:xfrm>
              <a:prstGeom prst="rect">
                <a:avLst/>
              </a:prstGeom>
              <a:solidFill>
                <a:srgbClr val="D2CBDF">
                  <a:alpha val="90000"/>
                </a:srgbClr>
              </a:solidFill>
              <a:ln w="19050" cap="flat">
                <a:solidFill>
                  <a:srgbClr val="D2CBDF">
                    <a:alpha val="9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1100"/>
                  </a:spcBef>
                  <a:defRPr sz="2800"/>
                </a:pPr>
              </a:p>
            </p:txBody>
          </p:sp>
          <p:sp>
            <p:nvSpPr>
              <p:cNvPr id="215" name="Provide live updates and tracking to users."/>
              <p:cNvSpPr txBox="1"/>
              <p:nvPr/>
            </p:nvSpPr>
            <p:spPr>
              <a:xfrm>
                <a:off x="0" y="130698"/>
                <a:ext cx="8412481" cy="4915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63225" tIns="163225" rIns="163225" bIns="163225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/>
                </a:lvl1pPr>
              </a:lstStyle>
              <a:p>
                <a:pPr/>
                <a:r>
                  <a:t>Provide live updates and tracking to users.</a:t>
                </a:r>
              </a:p>
            </p:txBody>
          </p:sp>
        </p:grpSp>
        <p:grpSp>
          <p:nvGrpSpPr>
            <p:cNvPr id="219" name="Group"/>
            <p:cNvGrpSpPr/>
            <p:nvPr/>
          </p:nvGrpSpPr>
          <p:grpSpPr>
            <a:xfrm>
              <a:off x="0" y="874689"/>
              <a:ext cx="2103121" cy="752948"/>
              <a:chOff x="0" y="0"/>
              <a:chExt cx="2103120" cy="752947"/>
            </a:xfrm>
          </p:grpSpPr>
          <p:sp>
            <p:nvSpPr>
              <p:cNvPr id="217" name="Rectangle"/>
              <p:cNvSpPr/>
              <p:nvPr/>
            </p:nvSpPr>
            <p:spPr>
              <a:xfrm>
                <a:off x="-1" y="-1"/>
                <a:ext cx="2103122" cy="752949"/>
              </a:xfrm>
              <a:prstGeom prst="rect">
                <a:avLst/>
              </a:prstGeom>
              <a:solidFill>
                <a:srgbClr val="4B2CA2"/>
              </a:solidFill>
              <a:ln w="19050" cap="flat">
                <a:solidFill>
                  <a:srgbClr val="4B2CA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11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18" name="Live Tracking &amp; Updates:"/>
              <p:cNvSpPr txBox="1"/>
              <p:nvPr/>
            </p:nvSpPr>
            <p:spPr>
              <a:xfrm>
                <a:off x="36916" y="96994"/>
                <a:ext cx="2029289" cy="5589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74373" tIns="74373" rIns="74373" bIns="74373" numCol="1" anchor="ctr">
                <a:sp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500"/>
                  </a:spcBef>
                  <a:defRPr b="1" sz="1400">
                    <a:solidFill>
                      <a:srgbClr val="FFFFFF"/>
                    </a:solidFill>
                  </a:defRPr>
                </a:pPr>
                <a:r>
                  <a:t>Live Tracking &amp; Updates:</a:t>
                </a:r>
                <a:r>
                  <a:rPr b="0"/>
                  <a:t> </a:t>
                </a:r>
              </a:p>
            </p:txBody>
          </p:sp>
        </p:grpSp>
        <p:grpSp>
          <p:nvGrpSpPr>
            <p:cNvPr id="222" name="Group"/>
            <p:cNvGrpSpPr/>
            <p:nvPr/>
          </p:nvGrpSpPr>
          <p:grpSpPr>
            <a:xfrm>
              <a:off x="2103119" y="1672813"/>
              <a:ext cx="8412482" cy="752948"/>
              <a:chOff x="0" y="0"/>
              <a:chExt cx="8412480" cy="752947"/>
            </a:xfrm>
          </p:grpSpPr>
          <p:sp>
            <p:nvSpPr>
              <p:cNvPr id="220" name="Rectangle"/>
              <p:cNvSpPr/>
              <p:nvPr/>
            </p:nvSpPr>
            <p:spPr>
              <a:xfrm>
                <a:off x="-1" y="-1"/>
                <a:ext cx="8412482" cy="752949"/>
              </a:xfrm>
              <a:prstGeom prst="rect">
                <a:avLst/>
              </a:prstGeom>
              <a:solidFill>
                <a:srgbClr val="CBD5E0">
                  <a:alpha val="90000"/>
                </a:srgbClr>
              </a:solidFill>
              <a:ln w="19050" cap="flat">
                <a:solidFill>
                  <a:srgbClr val="CBD5E0">
                    <a:alpha val="9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1100"/>
                  </a:spcBef>
                  <a:defRPr sz="2800"/>
                </a:pPr>
              </a:p>
            </p:txBody>
          </p:sp>
          <p:sp>
            <p:nvSpPr>
              <p:cNvPr id="221" name="Allow users to create and share events they are conducting or interested in."/>
              <p:cNvSpPr txBox="1"/>
              <p:nvPr/>
            </p:nvSpPr>
            <p:spPr>
              <a:xfrm>
                <a:off x="0" y="130698"/>
                <a:ext cx="8412481" cy="4915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63225" tIns="163225" rIns="163225" bIns="163225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/>
                </a:lvl1pPr>
              </a:lstStyle>
              <a:p>
                <a:pPr/>
                <a:r>
                  <a:t>Allow users to create and share events they are conducting or interested in.</a:t>
                </a:r>
              </a:p>
            </p:txBody>
          </p:sp>
        </p:grpSp>
        <p:grpSp>
          <p:nvGrpSpPr>
            <p:cNvPr id="225" name="Group"/>
            <p:cNvGrpSpPr/>
            <p:nvPr/>
          </p:nvGrpSpPr>
          <p:grpSpPr>
            <a:xfrm>
              <a:off x="0" y="1672813"/>
              <a:ext cx="2103121" cy="752948"/>
              <a:chOff x="0" y="0"/>
              <a:chExt cx="2103120" cy="752947"/>
            </a:xfrm>
          </p:grpSpPr>
          <p:sp>
            <p:nvSpPr>
              <p:cNvPr id="223" name="Rectangle"/>
              <p:cNvSpPr/>
              <p:nvPr/>
            </p:nvSpPr>
            <p:spPr>
              <a:xfrm>
                <a:off x="-1" y="-1"/>
                <a:ext cx="2103122" cy="752949"/>
              </a:xfrm>
              <a:prstGeom prst="rect">
                <a:avLst/>
              </a:prstGeom>
              <a:solidFill>
                <a:srgbClr val="2C71A4"/>
              </a:solidFill>
              <a:ln w="19050" cap="flat">
                <a:solidFill>
                  <a:srgbClr val="2C71A4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11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24" name="User-Generated Events:"/>
              <p:cNvSpPr txBox="1"/>
              <p:nvPr/>
            </p:nvSpPr>
            <p:spPr>
              <a:xfrm>
                <a:off x="36916" y="96994"/>
                <a:ext cx="2029289" cy="5589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74373" tIns="74373" rIns="74373" bIns="74373" numCol="1" anchor="ctr">
                <a:sp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500"/>
                  </a:spcBef>
                  <a:defRPr b="1" sz="1400">
                    <a:solidFill>
                      <a:srgbClr val="FFFFFF"/>
                    </a:solidFill>
                  </a:defRPr>
                </a:pPr>
                <a:r>
                  <a:t>User-Generated Events:</a:t>
                </a:r>
                <a:r>
                  <a:rPr b="0"/>
                  <a:t> </a:t>
                </a:r>
              </a:p>
            </p:txBody>
          </p:sp>
        </p:grpSp>
        <p:grpSp>
          <p:nvGrpSpPr>
            <p:cNvPr id="228" name="Group"/>
            <p:cNvGrpSpPr/>
            <p:nvPr/>
          </p:nvGrpSpPr>
          <p:grpSpPr>
            <a:xfrm>
              <a:off x="2103119" y="2470937"/>
              <a:ext cx="8412482" cy="752948"/>
              <a:chOff x="0" y="0"/>
              <a:chExt cx="8412480" cy="752947"/>
            </a:xfrm>
          </p:grpSpPr>
          <p:sp>
            <p:nvSpPr>
              <p:cNvPr id="226" name="Rectangle"/>
              <p:cNvSpPr/>
              <p:nvPr/>
            </p:nvSpPr>
            <p:spPr>
              <a:xfrm>
                <a:off x="-1" y="-1"/>
                <a:ext cx="8412482" cy="752949"/>
              </a:xfrm>
              <a:prstGeom prst="rect">
                <a:avLst/>
              </a:prstGeom>
              <a:solidFill>
                <a:srgbClr val="CCE0DA">
                  <a:alpha val="90000"/>
                </a:srgbClr>
              </a:solidFill>
              <a:ln w="19050" cap="flat">
                <a:solidFill>
                  <a:srgbClr val="CCE0DA">
                    <a:alpha val="9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1100"/>
                  </a:spcBef>
                  <a:defRPr sz="2800"/>
                </a:pPr>
              </a:p>
            </p:txBody>
          </p:sp>
          <p:sp>
            <p:nvSpPr>
              <p:cNvPr id="227" name="Enable users to book appointments with travel guides in our network."/>
              <p:cNvSpPr txBox="1"/>
              <p:nvPr/>
            </p:nvSpPr>
            <p:spPr>
              <a:xfrm>
                <a:off x="0" y="130698"/>
                <a:ext cx="8412481" cy="4915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63225" tIns="163225" rIns="163225" bIns="163225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/>
                </a:lvl1pPr>
              </a:lstStyle>
              <a:p>
                <a:pPr/>
                <a:r>
                  <a:t>Enable users to book appointments with travel guides in our network.</a:t>
                </a:r>
              </a:p>
            </p:txBody>
          </p:sp>
        </p:grpSp>
        <p:grpSp>
          <p:nvGrpSpPr>
            <p:cNvPr id="231" name="Group"/>
            <p:cNvGrpSpPr/>
            <p:nvPr/>
          </p:nvGrpSpPr>
          <p:grpSpPr>
            <a:xfrm>
              <a:off x="0" y="2470937"/>
              <a:ext cx="2103121" cy="752948"/>
              <a:chOff x="0" y="0"/>
              <a:chExt cx="2103120" cy="752947"/>
            </a:xfrm>
          </p:grpSpPr>
          <p:sp>
            <p:nvSpPr>
              <p:cNvPr id="229" name="Rectangle"/>
              <p:cNvSpPr/>
              <p:nvPr/>
            </p:nvSpPr>
            <p:spPr>
              <a:xfrm>
                <a:off x="-1" y="-1"/>
                <a:ext cx="2103122" cy="752949"/>
              </a:xfrm>
              <a:prstGeom prst="rect">
                <a:avLst/>
              </a:prstGeom>
              <a:solidFill>
                <a:srgbClr val="2DA573"/>
              </a:solidFill>
              <a:ln w="19050" cap="flat">
                <a:solidFill>
                  <a:srgbClr val="2DA57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11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30" name="Appointment Booking:"/>
              <p:cNvSpPr txBox="1"/>
              <p:nvPr/>
            </p:nvSpPr>
            <p:spPr>
              <a:xfrm>
                <a:off x="36916" y="96994"/>
                <a:ext cx="2029289" cy="5589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74373" tIns="74373" rIns="74373" bIns="74373" numCol="1" anchor="ctr">
                <a:sp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500"/>
                  </a:spcBef>
                  <a:defRPr b="1" sz="1400">
                    <a:solidFill>
                      <a:srgbClr val="FFFFFF"/>
                    </a:solidFill>
                  </a:defRPr>
                </a:pPr>
                <a:r>
                  <a:t>Appointment Booking:</a:t>
                </a:r>
                <a:r>
                  <a:rPr b="0"/>
                  <a:t> </a:t>
                </a:r>
              </a:p>
            </p:txBody>
          </p:sp>
        </p:grpSp>
        <p:grpSp>
          <p:nvGrpSpPr>
            <p:cNvPr id="234" name="Group"/>
            <p:cNvGrpSpPr/>
            <p:nvPr/>
          </p:nvGrpSpPr>
          <p:grpSpPr>
            <a:xfrm>
              <a:off x="2103119" y="3269061"/>
              <a:ext cx="8412482" cy="752948"/>
              <a:chOff x="0" y="0"/>
              <a:chExt cx="8412480" cy="752947"/>
            </a:xfrm>
          </p:grpSpPr>
          <p:sp>
            <p:nvSpPr>
              <p:cNvPr id="232" name="Rectangle"/>
              <p:cNvSpPr/>
              <p:nvPr/>
            </p:nvSpPr>
            <p:spPr>
              <a:xfrm>
                <a:off x="-1" y="-1"/>
                <a:ext cx="8412482" cy="752949"/>
              </a:xfrm>
              <a:prstGeom prst="rect">
                <a:avLst/>
              </a:prstGeom>
              <a:solidFill>
                <a:srgbClr val="CFE1CC">
                  <a:alpha val="90000"/>
                </a:srgbClr>
              </a:solidFill>
              <a:ln w="19050" cap="flat">
                <a:solidFill>
                  <a:srgbClr val="CFE1CC">
                    <a:alpha val="9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1100"/>
                  </a:spcBef>
                  <a:defRPr sz="2800"/>
                </a:pPr>
              </a:p>
            </p:txBody>
          </p:sp>
          <p:sp>
            <p:nvSpPr>
              <p:cNvPr id="233" name="Provide business owners and guides with admin dashboards to manage their tourists and events."/>
              <p:cNvSpPr txBox="1"/>
              <p:nvPr/>
            </p:nvSpPr>
            <p:spPr>
              <a:xfrm>
                <a:off x="0" y="130698"/>
                <a:ext cx="8412481" cy="4915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63225" tIns="163225" rIns="163225" bIns="163225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/>
                </a:lvl1pPr>
              </a:lstStyle>
              <a:p>
                <a:pPr/>
                <a:r>
                  <a:t>Provide business owners and guides with admin dashboards to manage their tourists and events.</a:t>
                </a:r>
              </a:p>
            </p:txBody>
          </p:sp>
        </p:grpSp>
        <p:grpSp>
          <p:nvGrpSpPr>
            <p:cNvPr id="237" name="Group"/>
            <p:cNvGrpSpPr/>
            <p:nvPr/>
          </p:nvGrpSpPr>
          <p:grpSpPr>
            <a:xfrm>
              <a:off x="0" y="3269061"/>
              <a:ext cx="2103121" cy="752948"/>
              <a:chOff x="0" y="0"/>
              <a:chExt cx="2103120" cy="752947"/>
            </a:xfrm>
          </p:grpSpPr>
          <p:sp>
            <p:nvSpPr>
              <p:cNvPr id="235" name="Rectangle"/>
              <p:cNvSpPr/>
              <p:nvPr/>
            </p:nvSpPr>
            <p:spPr>
              <a:xfrm>
                <a:off x="-1" y="-1"/>
                <a:ext cx="2103122" cy="752949"/>
              </a:xfrm>
              <a:prstGeom prst="rect">
                <a:avLst/>
              </a:prstGeom>
              <a:solidFill>
                <a:schemeClr val="accent6"/>
              </a:solidFill>
              <a:ln w="19050" cap="flat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11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36" name="Admin Pages:"/>
              <p:cNvSpPr txBox="1"/>
              <p:nvPr/>
            </p:nvSpPr>
            <p:spPr>
              <a:xfrm>
                <a:off x="36916" y="194149"/>
                <a:ext cx="2029289" cy="3646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74373" tIns="74373" rIns="74373" bIns="74373" numCol="1" anchor="ctr">
                <a:sp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500"/>
                  </a:spcBef>
                  <a:defRPr b="1" sz="1400">
                    <a:solidFill>
                      <a:srgbClr val="FFFFFF"/>
                    </a:solidFill>
                  </a:defRPr>
                </a:pPr>
                <a:r>
                  <a:t>Admin Pages:</a:t>
                </a:r>
                <a:r>
                  <a:rPr b="0"/>
                  <a:t> 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8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5400"/>
            </a:lvl1pPr>
          </a:lstStyle>
          <a:p>
            <a:pPr/>
            <a:r>
              <a:t>Conclusion &amp; Q&amp;A</a:t>
            </a:r>
          </a:p>
        </p:txBody>
      </p:sp>
      <p:grpSp>
        <p:nvGrpSpPr>
          <p:cNvPr id="244" name="sketch line"/>
          <p:cNvGrpSpPr/>
          <p:nvPr/>
        </p:nvGrpSpPr>
        <p:grpSpPr>
          <a:xfrm>
            <a:off x="837788" y="1846111"/>
            <a:ext cx="10424659" cy="57554"/>
            <a:chOff x="0" y="0"/>
            <a:chExt cx="10424657" cy="57553"/>
          </a:xfrm>
        </p:grpSpPr>
        <p:sp>
          <p:nvSpPr>
            <p:cNvPr id="242" name="Shape"/>
            <p:cNvSpPr/>
            <p:nvPr/>
          </p:nvSpPr>
          <p:spPr>
            <a:xfrm>
              <a:off x="-1" y="0"/>
              <a:ext cx="10424615" cy="55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1938" fill="norm" stroke="1" extrusionOk="0">
                  <a:moveTo>
                    <a:pt x="1" y="4126"/>
                  </a:moveTo>
                  <a:cubicBezTo>
                    <a:pt x="250" y="7821"/>
                    <a:pt x="716" y="4481"/>
                    <a:pt x="1225" y="4126"/>
                  </a:cubicBezTo>
                  <a:cubicBezTo>
                    <a:pt x="1734" y="3771"/>
                    <a:pt x="1722" y="1774"/>
                    <a:pt x="2017" y="4126"/>
                  </a:cubicBezTo>
                  <a:cubicBezTo>
                    <a:pt x="2312" y="6478"/>
                    <a:pt x="3397" y="7837"/>
                    <a:pt x="3889" y="4126"/>
                  </a:cubicBezTo>
                  <a:cubicBezTo>
                    <a:pt x="4381" y="415"/>
                    <a:pt x="4691" y="10067"/>
                    <a:pt x="5113" y="4126"/>
                  </a:cubicBezTo>
                  <a:cubicBezTo>
                    <a:pt x="5535" y="-1814"/>
                    <a:pt x="5943" y="3793"/>
                    <a:pt x="6337" y="4126"/>
                  </a:cubicBezTo>
                  <a:cubicBezTo>
                    <a:pt x="6730" y="4460"/>
                    <a:pt x="7728" y="13833"/>
                    <a:pt x="8209" y="4126"/>
                  </a:cubicBezTo>
                  <a:cubicBezTo>
                    <a:pt x="8690" y="-5581"/>
                    <a:pt x="8939" y="5000"/>
                    <a:pt x="9217" y="4126"/>
                  </a:cubicBezTo>
                  <a:cubicBezTo>
                    <a:pt x="9494" y="3252"/>
                    <a:pt x="10617" y="6676"/>
                    <a:pt x="11088" y="4126"/>
                  </a:cubicBezTo>
                  <a:cubicBezTo>
                    <a:pt x="11560" y="1576"/>
                    <a:pt x="12524" y="-168"/>
                    <a:pt x="12960" y="4126"/>
                  </a:cubicBezTo>
                  <a:cubicBezTo>
                    <a:pt x="13396" y="8421"/>
                    <a:pt x="13810" y="5036"/>
                    <a:pt x="14400" y="4126"/>
                  </a:cubicBezTo>
                  <a:cubicBezTo>
                    <a:pt x="14990" y="3217"/>
                    <a:pt x="15535" y="10301"/>
                    <a:pt x="16272" y="4126"/>
                  </a:cubicBezTo>
                  <a:cubicBezTo>
                    <a:pt x="17009" y="-2048"/>
                    <a:pt x="17173" y="4688"/>
                    <a:pt x="17496" y="4126"/>
                  </a:cubicBezTo>
                  <a:cubicBezTo>
                    <a:pt x="17819" y="3564"/>
                    <a:pt x="18382" y="1093"/>
                    <a:pt x="18720" y="4126"/>
                  </a:cubicBezTo>
                  <a:cubicBezTo>
                    <a:pt x="19058" y="7159"/>
                    <a:pt x="19902" y="-3530"/>
                    <a:pt x="20376" y="4126"/>
                  </a:cubicBezTo>
                  <a:cubicBezTo>
                    <a:pt x="20849" y="11782"/>
                    <a:pt x="21201" y="2365"/>
                    <a:pt x="21600" y="4126"/>
                  </a:cubicBezTo>
                  <a:cubicBezTo>
                    <a:pt x="21600" y="5071"/>
                    <a:pt x="21600" y="6227"/>
                    <a:pt x="21600" y="8056"/>
                  </a:cubicBezTo>
                  <a:cubicBezTo>
                    <a:pt x="20843" y="2886"/>
                    <a:pt x="20603" y="94"/>
                    <a:pt x="19944" y="8056"/>
                  </a:cubicBezTo>
                  <a:cubicBezTo>
                    <a:pt x="19285" y="16019"/>
                    <a:pt x="19124" y="9498"/>
                    <a:pt x="18504" y="8056"/>
                  </a:cubicBezTo>
                  <a:cubicBezTo>
                    <a:pt x="17884" y="6615"/>
                    <a:pt x="17918" y="6475"/>
                    <a:pt x="17712" y="8056"/>
                  </a:cubicBezTo>
                  <a:cubicBezTo>
                    <a:pt x="17506" y="9637"/>
                    <a:pt x="16936" y="4173"/>
                    <a:pt x="16704" y="8056"/>
                  </a:cubicBezTo>
                  <a:cubicBezTo>
                    <a:pt x="16472" y="11939"/>
                    <a:pt x="15410" y="7890"/>
                    <a:pt x="14832" y="8056"/>
                  </a:cubicBezTo>
                  <a:cubicBezTo>
                    <a:pt x="14254" y="8222"/>
                    <a:pt x="13697" y="6031"/>
                    <a:pt x="13392" y="8056"/>
                  </a:cubicBezTo>
                  <a:cubicBezTo>
                    <a:pt x="13087" y="10082"/>
                    <a:pt x="12692" y="5198"/>
                    <a:pt x="12384" y="8056"/>
                  </a:cubicBezTo>
                  <a:cubicBezTo>
                    <a:pt x="12077" y="10914"/>
                    <a:pt x="11536" y="5655"/>
                    <a:pt x="10944" y="8056"/>
                  </a:cubicBezTo>
                  <a:cubicBezTo>
                    <a:pt x="10353" y="10458"/>
                    <a:pt x="10538" y="8530"/>
                    <a:pt x="10153" y="8056"/>
                  </a:cubicBezTo>
                  <a:cubicBezTo>
                    <a:pt x="9767" y="7582"/>
                    <a:pt x="9545" y="11510"/>
                    <a:pt x="9361" y="8056"/>
                  </a:cubicBezTo>
                  <a:cubicBezTo>
                    <a:pt x="9176" y="4603"/>
                    <a:pt x="8549" y="15390"/>
                    <a:pt x="7921" y="8056"/>
                  </a:cubicBezTo>
                  <a:cubicBezTo>
                    <a:pt x="7293" y="722"/>
                    <a:pt x="7156" y="4955"/>
                    <a:pt x="6913" y="8056"/>
                  </a:cubicBezTo>
                  <a:cubicBezTo>
                    <a:pt x="6669" y="11157"/>
                    <a:pt x="5634" y="1131"/>
                    <a:pt x="5257" y="8056"/>
                  </a:cubicBezTo>
                  <a:cubicBezTo>
                    <a:pt x="4879" y="14981"/>
                    <a:pt x="4540" y="4822"/>
                    <a:pt x="4249" y="8056"/>
                  </a:cubicBezTo>
                  <a:cubicBezTo>
                    <a:pt x="3958" y="11291"/>
                    <a:pt x="3153" y="4784"/>
                    <a:pt x="2593" y="8056"/>
                  </a:cubicBezTo>
                  <a:cubicBezTo>
                    <a:pt x="2033" y="11328"/>
                    <a:pt x="2059" y="10151"/>
                    <a:pt x="1801" y="8056"/>
                  </a:cubicBezTo>
                  <a:cubicBezTo>
                    <a:pt x="1544" y="5961"/>
                    <a:pt x="479" y="11296"/>
                    <a:pt x="1" y="8056"/>
                  </a:cubicBezTo>
                  <a:cubicBezTo>
                    <a:pt x="0" y="6727"/>
                    <a:pt x="0" y="5785"/>
                    <a:pt x="1" y="412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3" name="Shape"/>
            <p:cNvSpPr/>
            <p:nvPr/>
          </p:nvSpPr>
          <p:spPr>
            <a:xfrm>
              <a:off x="310" y="2592"/>
              <a:ext cx="10424348" cy="54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3386" fill="norm" stroke="1" extrusionOk="0">
                  <a:moveTo>
                    <a:pt x="0" y="4045"/>
                  </a:moveTo>
                  <a:cubicBezTo>
                    <a:pt x="521" y="3102"/>
                    <a:pt x="994" y="-950"/>
                    <a:pt x="1872" y="4045"/>
                  </a:cubicBezTo>
                  <a:cubicBezTo>
                    <a:pt x="2751" y="9040"/>
                    <a:pt x="2441" y="2246"/>
                    <a:pt x="2880" y="4045"/>
                  </a:cubicBezTo>
                  <a:cubicBezTo>
                    <a:pt x="3319" y="5845"/>
                    <a:pt x="3996" y="2414"/>
                    <a:pt x="4536" y="4045"/>
                  </a:cubicBezTo>
                  <a:cubicBezTo>
                    <a:pt x="5076" y="5676"/>
                    <a:pt x="5056" y="-1105"/>
                    <a:pt x="5544" y="4045"/>
                  </a:cubicBezTo>
                  <a:cubicBezTo>
                    <a:pt x="6032" y="9195"/>
                    <a:pt x="6271" y="1336"/>
                    <a:pt x="6984" y="4045"/>
                  </a:cubicBezTo>
                  <a:cubicBezTo>
                    <a:pt x="7697" y="6755"/>
                    <a:pt x="8008" y="1449"/>
                    <a:pt x="8640" y="4045"/>
                  </a:cubicBezTo>
                  <a:cubicBezTo>
                    <a:pt x="9272" y="6642"/>
                    <a:pt x="9265" y="8061"/>
                    <a:pt x="9432" y="4045"/>
                  </a:cubicBezTo>
                  <a:cubicBezTo>
                    <a:pt x="9599" y="29"/>
                    <a:pt x="9919" y="5990"/>
                    <a:pt x="10224" y="4045"/>
                  </a:cubicBezTo>
                  <a:cubicBezTo>
                    <a:pt x="10529" y="2100"/>
                    <a:pt x="11554" y="-3993"/>
                    <a:pt x="12096" y="4045"/>
                  </a:cubicBezTo>
                  <a:cubicBezTo>
                    <a:pt x="12638" y="12084"/>
                    <a:pt x="13066" y="7497"/>
                    <a:pt x="13536" y="4045"/>
                  </a:cubicBezTo>
                  <a:cubicBezTo>
                    <a:pt x="14005" y="594"/>
                    <a:pt x="13938" y="7972"/>
                    <a:pt x="14328" y="4045"/>
                  </a:cubicBezTo>
                  <a:cubicBezTo>
                    <a:pt x="14717" y="119"/>
                    <a:pt x="15329" y="11984"/>
                    <a:pt x="15768" y="4045"/>
                  </a:cubicBezTo>
                  <a:cubicBezTo>
                    <a:pt x="16206" y="-3893"/>
                    <a:pt x="16869" y="3133"/>
                    <a:pt x="17639" y="4045"/>
                  </a:cubicBezTo>
                  <a:cubicBezTo>
                    <a:pt x="18410" y="4957"/>
                    <a:pt x="18395" y="4863"/>
                    <a:pt x="18863" y="4045"/>
                  </a:cubicBezTo>
                  <a:cubicBezTo>
                    <a:pt x="19332" y="3227"/>
                    <a:pt x="19779" y="-301"/>
                    <a:pt x="20087" y="4045"/>
                  </a:cubicBezTo>
                  <a:cubicBezTo>
                    <a:pt x="20396" y="8391"/>
                    <a:pt x="21057" y="3749"/>
                    <a:pt x="21599" y="4045"/>
                  </a:cubicBezTo>
                  <a:cubicBezTo>
                    <a:pt x="21600" y="5906"/>
                    <a:pt x="21598" y="6795"/>
                    <a:pt x="21599" y="8500"/>
                  </a:cubicBezTo>
                  <a:cubicBezTo>
                    <a:pt x="21103" y="9091"/>
                    <a:pt x="20792" y="1766"/>
                    <a:pt x="20159" y="8500"/>
                  </a:cubicBezTo>
                  <a:cubicBezTo>
                    <a:pt x="19526" y="15233"/>
                    <a:pt x="19289" y="12904"/>
                    <a:pt x="18503" y="8500"/>
                  </a:cubicBezTo>
                  <a:cubicBezTo>
                    <a:pt x="17718" y="4095"/>
                    <a:pt x="17640" y="12499"/>
                    <a:pt x="16848" y="8500"/>
                  </a:cubicBezTo>
                  <a:cubicBezTo>
                    <a:pt x="16055" y="4501"/>
                    <a:pt x="16296" y="8834"/>
                    <a:pt x="15840" y="8500"/>
                  </a:cubicBezTo>
                  <a:cubicBezTo>
                    <a:pt x="15383" y="8166"/>
                    <a:pt x="14395" y="17607"/>
                    <a:pt x="13968" y="8500"/>
                  </a:cubicBezTo>
                  <a:cubicBezTo>
                    <a:pt x="13541" y="-608"/>
                    <a:pt x="13083" y="12178"/>
                    <a:pt x="12528" y="8500"/>
                  </a:cubicBezTo>
                  <a:cubicBezTo>
                    <a:pt x="11973" y="4821"/>
                    <a:pt x="11991" y="4396"/>
                    <a:pt x="11736" y="8500"/>
                  </a:cubicBezTo>
                  <a:cubicBezTo>
                    <a:pt x="11481" y="12603"/>
                    <a:pt x="10785" y="10240"/>
                    <a:pt x="10296" y="8500"/>
                  </a:cubicBezTo>
                  <a:cubicBezTo>
                    <a:pt x="9807" y="6759"/>
                    <a:pt x="9449" y="12465"/>
                    <a:pt x="9072" y="8500"/>
                  </a:cubicBezTo>
                  <a:cubicBezTo>
                    <a:pt x="8695" y="4534"/>
                    <a:pt x="8272" y="12670"/>
                    <a:pt x="7848" y="8500"/>
                  </a:cubicBezTo>
                  <a:cubicBezTo>
                    <a:pt x="7424" y="4330"/>
                    <a:pt x="7229" y="2198"/>
                    <a:pt x="6624" y="8500"/>
                  </a:cubicBezTo>
                  <a:cubicBezTo>
                    <a:pt x="6019" y="14801"/>
                    <a:pt x="5657" y="15226"/>
                    <a:pt x="5400" y="8500"/>
                  </a:cubicBezTo>
                  <a:cubicBezTo>
                    <a:pt x="5144" y="1773"/>
                    <a:pt x="4146" y="2706"/>
                    <a:pt x="3744" y="8500"/>
                  </a:cubicBezTo>
                  <a:cubicBezTo>
                    <a:pt x="3343" y="14293"/>
                    <a:pt x="2717" y="3013"/>
                    <a:pt x="2304" y="8500"/>
                  </a:cubicBezTo>
                  <a:cubicBezTo>
                    <a:pt x="1892" y="13987"/>
                    <a:pt x="1848" y="4460"/>
                    <a:pt x="1512" y="8500"/>
                  </a:cubicBezTo>
                  <a:cubicBezTo>
                    <a:pt x="1177" y="12540"/>
                    <a:pt x="421" y="12439"/>
                    <a:pt x="0" y="8500"/>
                  </a:cubicBezTo>
                  <a:cubicBezTo>
                    <a:pt x="0" y="6897"/>
                    <a:pt x="0" y="6227"/>
                    <a:pt x="0" y="4045"/>
                  </a:cubicBezTo>
                  <a:close/>
                </a:path>
              </a:pathLst>
            </a:custGeom>
            <a:noFill/>
            <a:ln w="41275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250" name="Content Placeholder 2"/>
          <p:cNvGrpSpPr/>
          <p:nvPr/>
        </p:nvGrpSpPr>
        <p:grpSpPr>
          <a:xfrm>
            <a:off x="1397999" y="2305791"/>
            <a:ext cx="9396002" cy="3748745"/>
            <a:chOff x="0" y="0"/>
            <a:chExt cx="9396000" cy="3748745"/>
          </a:xfrm>
        </p:grpSpPr>
        <p:sp>
          <p:nvSpPr>
            <p:cNvPr id="245" name="Square"/>
            <p:cNvSpPr/>
            <p:nvPr/>
          </p:nvSpPr>
          <p:spPr>
            <a:xfrm>
              <a:off x="1404000" y="0"/>
              <a:ext cx="1512001" cy="1512001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sp>
          <p:nvSpPr>
            <p:cNvPr id="246" name="Summary:"/>
            <p:cNvSpPr txBox="1"/>
            <p:nvPr/>
          </p:nvSpPr>
          <p:spPr>
            <a:xfrm>
              <a:off x="0" y="1675119"/>
              <a:ext cx="4320000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1466850">
                <a:lnSpc>
                  <a:spcPct val="90000"/>
                </a:lnSpc>
                <a:spcBef>
                  <a:spcPts val="1300"/>
                </a:spcBef>
                <a:defRPr b="1" sz="3300"/>
              </a:lvl1pPr>
            </a:lstStyle>
            <a:p>
              <a:pPr/>
              <a:r>
                <a:t>Summary:</a:t>
              </a:r>
            </a:p>
          </p:txBody>
        </p:sp>
        <p:sp>
          <p:nvSpPr>
            <p:cNvPr id="247" name="Developed core features and integrated Firebase.…"/>
            <p:cNvSpPr txBox="1"/>
            <p:nvPr/>
          </p:nvSpPr>
          <p:spPr>
            <a:xfrm>
              <a:off x="0" y="2398989"/>
              <a:ext cx="4320000" cy="13497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 defTabSz="755650">
                <a:lnSpc>
                  <a:spcPct val="90000"/>
                </a:lnSpc>
                <a:spcBef>
                  <a:spcPts val="700"/>
                </a:spcBef>
                <a:defRPr sz="1700"/>
              </a:pPr>
              <a:r>
                <a:t>Developed core features and integrated Firebase.</a:t>
              </a:r>
              <a:endParaRPr sz="2800"/>
            </a:p>
            <a:p>
              <a:pPr algn="ctr" defTabSz="755650">
                <a:lnSpc>
                  <a:spcPct val="90000"/>
                </a:lnSpc>
                <a:spcBef>
                  <a:spcPts val="700"/>
                </a:spcBef>
                <a:defRPr sz="1700"/>
              </a:pPr>
              <a:r>
                <a:t>Successfully fetching real-time travel data.</a:t>
              </a:r>
              <a:endParaRPr sz="2800"/>
            </a:p>
            <a:p>
              <a:pPr algn="ctr" defTabSz="755650">
                <a:lnSpc>
                  <a:spcPct val="90000"/>
                </a:lnSpc>
                <a:spcBef>
                  <a:spcPts val="700"/>
                </a:spcBef>
                <a:defRPr sz="1700"/>
              </a:pPr>
              <a:r>
                <a:t>Future work focuses on improving recommendations and UI.</a:t>
              </a:r>
            </a:p>
          </p:txBody>
        </p:sp>
        <p:sp>
          <p:nvSpPr>
            <p:cNvPr id="248" name="Square"/>
            <p:cNvSpPr/>
            <p:nvPr/>
          </p:nvSpPr>
          <p:spPr>
            <a:xfrm>
              <a:off x="6479999" y="0"/>
              <a:ext cx="1512001" cy="1512001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</a:p>
          </p:txBody>
        </p:sp>
        <p:sp>
          <p:nvSpPr>
            <p:cNvPr id="249" name="Questions &amp; Feedback"/>
            <p:cNvSpPr txBox="1"/>
            <p:nvPr/>
          </p:nvSpPr>
          <p:spPr>
            <a:xfrm>
              <a:off x="5076000" y="1675119"/>
              <a:ext cx="4320001" cy="96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1466850">
                <a:lnSpc>
                  <a:spcPct val="90000"/>
                </a:lnSpc>
                <a:spcBef>
                  <a:spcPts val="1300"/>
                </a:spcBef>
                <a:defRPr b="1" sz="3300"/>
              </a:lvl1pPr>
            </a:lstStyle>
            <a:p>
              <a:pPr/>
              <a:r>
                <a:t>Questions &amp; Feedback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